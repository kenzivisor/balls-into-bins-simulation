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3944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ARCHITECTURE  ·  TECHNICAL INTERVIEW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Balls into Bins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21792" y="199339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Balancing Under Cost Constraints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21792" y="250545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choices, stateful policies, and cost–quality tradeoffs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1792" y="3154680"/>
            <a:ext cx="7315200" cy="1051560"/>
          </a:xfrm>
          <a:prstGeom prst="roundRect">
            <a:avLst>
              <a:gd name="adj" fmla="val 6957"/>
            </a:avLst>
          </a:prstGeom>
          <a:solidFill>
            <a:srgbClr val="182A42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" y="327355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150" dirty="0">
                <a:solidFill>
                  <a:srgbClr val="6FA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MESSAGE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3547872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load-balance quality does each policy buy for its decision cost?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1792" y="46177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21792" y="5239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33672" y="46177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&amp; 32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233672" y="5239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845552" y="46177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845552" y="5239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 PER SCENARIO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53993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Kobi Kenzi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60350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15000"/>
              </a:lnSpc>
              <a:spcAft>
                <a:spcPts val="22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balls arrive one by one, and each ball must be placed into one of the available bins.</a:t>
            </a:r>
          </a:p>
          <a:p>
            <a:pPr marL="228600" indent="-228600">
              <a:lnSpc>
                <a:spcPct val="115000"/>
              </a:lnSpc>
              <a:spcAft>
                <a:spcPts val="22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arriving ball must be assigned to a bin immediately — no batching, no undo.</a:t>
            </a:r>
            <a:endParaRPr lang="en-US" sz="1650" dirty="0"/>
          </a:p>
          <a:p>
            <a:pPr marL="228600" indent="-228600">
              <a:lnSpc>
                <a:spcPct val="115000"/>
              </a:lnSpc>
              <a:spcAft>
                <a:spcPts val="22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minimize the maximum load and the imbalance across bins.</a:t>
            </a:r>
            <a:endParaRPr lang="en-US" sz="1650" dirty="0"/>
          </a:p>
          <a:p>
            <a:pPr marL="228600" indent="-228600">
              <a:lnSpc>
                <a:spcPct val="115000"/>
              </a:lnSpc>
              <a:spcAft>
                <a:spcPts val="22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analogy: assigning jobs, network flows, or tasks to servers, links, or queues.</a:t>
            </a:r>
            <a:endParaRPr lang="en-US" sz="1650" dirty="0"/>
          </a:p>
          <a:p>
            <a:pPr marL="228600" indent="-228600">
              <a:lnSpc>
                <a:spcPct val="115000"/>
              </a:lnSpc>
              <a:spcAft>
                <a:spcPts val="22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how much state or load information should the allocator use?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90372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ALLOCATION, ONE BALL AT A TIME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903720" y="1691640"/>
            <a:ext cx="4206240" cy="3246120"/>
          </a:xfrm>
          <a:prstGeom prst="roundRect">
            <a:avLst>
              <a:gd name="adj" fmla="val 2254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7498080" y="1965960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595360" y="1965960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9784080" y="1965960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723376" y="2267712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6830568" y="2880360"/>
            <a:ext cx="868680" cy="173736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6830568" y="4009644"/>
            <a:ext cx="868680" cy="60807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7991856" y="2880360"/>
            <a:ext cx="868680" cy="173736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7991856" y="3140964"/>
            <a:ext cx="868680" cy="147675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9153144" y="2880360"/>
            <a:ext cx="868680" cy="173736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9153144" y="3662172"/>
            <a:ext cx="868680" cy="95554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10314432" y="2880360"/>
            <a:ext cx="868680" cy="173736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0314432" y="4183380"/>
            <a:ext cx="868680" cy="4343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903720" y="4727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bins can start at different loads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models any system that must commit a resource assignment immediately, with only partial knowledge of global state.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Theory Anchor: Why Power-2 Matters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309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24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random choice leaves a small set of bins overloaded — the classic balls-in-bins bottleneck.</a:t>
            </a:r>
            <a:endParaRPr lang="en-US" sz="1650" dirty="0"/>
          </a:p>
          <a:p>
            <a:pPr marL="228600" indent="-228600">
              <a:lnSpc>
                <a:spcPct val="118000"/>
              </a:lnSpc>
              <a:spcAft>
                <a:spcPts val="24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just two bins and keeping the less-loaded one cuts that bottleneck exponentially, not just by a constant factor.</a:t>
            </a:r>
            <a:endParaRPr lang="en-US" sz="1650" dirty="0"/>
          </a:p>
          <a:p>
            <a:pPr marL="228600" indent="-228600">
              <a:lnSpc>
                <a:spcPct val="118000"/>
              </a:lnSpc>
              <a:spcAft>
                <a:spcPts val="24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power-of-two-choices result (Mitzenmacher, 2001): a couple bits of local information go a very long way.</a:t>
            </a:r>
            <a:endParaRPr lang="en-US" sz="1650" dirty="0"/>
          </a:p>
          <a:p>
            <a:pPr marL="228600" indent="-228600">
              <a:lnSpc>
                <a:spcPct val="118000"/>
              </a:lnSpc>
              <a:spcAft>
                <a:spcPts val="24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two choices, more sampling keeps helping, but only by changing the base of an already-tiny logarithm — diminishing returns, fast.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178040" y="1325880"/>
            <a:ext cx="4465015" cy="2788920"/>
          </a:xfrm>
          <a:prstGeom prst="roundRect">
            <a:avLst>
              <a:gd name="adj" fmla="val 2951"/>
            </a:avLst>
          </a:prstGeom>
          <a:solidFill>
            <a:srgbClr val="E8EFF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434072" y="1481328"/>
            <a:ext cx="39529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 BALLS INTO n BINS (WHP)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34072" y="1828800"/>
            <a:ext cx="3952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random choice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34072" y="2057400"/>
            <a:ext cx="39529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Θ( log n / log log n 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34072" y="2359152"/>
            <a:ext cx="39529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Propositions 2 &amp; 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434072" y="2542032"/>
            <a:ext cx="3952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choices — Power-2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34072" y="2770632"/>
            <a:ext cx="39529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</a:t>
            </a:r>
            <a:r>
              <a:rPr lang="en-US" sz="1700" b="1" baseline="-40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(log n) + O(1)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34072" y="3072384"/>
            <a:ext cx="39529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 2 (Mitzenmacher, 2001)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434072" y="3255264"/>
            <a:ext cx="3952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choices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34072" y="3483864"/>
            <a:ext cx="39529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</a:t>
            </a:r>
            <a:r>
              <a:rPr lang="en-US" sz="1700" b="1" baseline="-40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(log n) + O(1)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434072" y="3785616"/>
            <a:ext cx="39529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 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178040" y="4224528"/>
            <a:ext cx="4465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bounds assume n balls into n bins. Our simulation runs heavily loaded — 10,000 balls into 16–32 bins — a different regime, but the same qualitative gap motivates Power-2.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178040" y="5074920"/>
            <a:ext cx="4465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information captures most of the benefit. No proof here — the rest of this deck tests it empirically.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motivates Power-2 as the practical randomized baseline — the rest of the deck checks it against real cost.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Setup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713232" y="1399032"/>
            <a:ext cx="2276856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13232" y="1847088"/>
            <a:ext cx="227685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BALLS PER RUN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37560" y="13258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3502152" y="1399032"/>
            <a:ext cx="2276856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&amp; 32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502152" y="1847088"/>
            <a:ext cx="227685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COUNTS TESTED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26480" y="13258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291072" y="1399032"/>
            <a:ext cx="2276856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91072" y="1847088"/>
            <a:ext cx="227685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 PER SCENARIO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15400" y="13258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9079992" y="1399032"/>
            <a:ext cx="2276856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79992" y="1847088"/>
            <a:ext cx="227685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TRACKED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2423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WORKLOAD / SETUP MODES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5410048" cy="868680"/>
          </a:xfrm>
          <a:prstGeom prst="roundRect">
            <a:avLst>
              <a:gd name="adj" fmla="val 7368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749808" y="2834640"/>
            <a:ext cx="504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" y="3072384"/>
            <a:ext cx="5044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Unweighted balls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initial bins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33008" y="2743200"/>
            <a:ext cx="5410048" cy="868680"/>
          </a:xfrm>
          <a:prstGeom prst="roundRect">
            <a:avLst>
              <a:gd name="adj" fmla="val 7368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434176" y="2834640"/>
            <a:ext cx="504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34176" y="3072384"/>
            <a:ext cx="5044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balls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initial bins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3813048"/>
            <a:ext cx="5410048" cy="868680"/>
          </a:xfrm>
          <a:prstGeom prst="roundRect">
            <a:avLst>
              <a:gd name="adj" fmla="val 7368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749808" y="3904488"/>
            <a:ext cx="504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9808" y="4142232"/>
            <a:ext cx="5044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Unweighted balls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initialized bins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33008" y="3813048"/>
            <a:ext cx="5410048" cy="868680"/>
          </a:xfrm>
          <a:prstGeom prst="roundRect">
            <a:avLst>
              <a:gd name="adj" fmla="val 7368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6434176" y="3904488"/>
            <a:ext cx="504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34176" y="4142232"/>
            <a:ext cx="5044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balls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initialized bins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48640" y="4937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463040" y="4901184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   ·   Max–min gap   ·   CV / load imbalance   ·   Cost per ball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policy is evaluated across all four conditions — clean and adversarial alike.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Algorithms Compared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766560" y="1453896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967728" y="13533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321040" y="1453896"/>
            <a:ext cx="118872" cy="11887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522208" y="13533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058400" y="1453896"/>
            <a:ext cx="118872" cy="118872"/>
          </a:xfrm>
          <a:prstGeom prst="ellipse">
            <a:avLst/>
          </a:prstGeom>
          <a:solidFill>
            <a:srgbClr val="C2660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10259568" y="13533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38862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0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knows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Stateless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random bin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Stateless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Power-k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sampled bin loads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Grows with k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Stateless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 minimum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bin loads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scan cost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Stateful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Round-robin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Next-bin pointer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 (state)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C266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Stateful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Heap size 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global heap state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+ heap updates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2" name="Text 9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comparison is stateless sampling vs. maintained state vs. full global knowledge.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Structure: Objects and Flow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00304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00304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173072" y="1623060"/>
            <a:ext cx="31089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2483968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2483968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056736" y="1623060"/>
            <a:ext cx="31089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4367632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4367632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loads +</a:t>
            </a:r>
            <a:endParaRPr lang="en-US" sz="11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model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0400" y="1623060"/>
            <a:ext cx="31089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6251296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E8EFF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251296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</a:t>
            </a:r>
            <a:endParaRPr lang="en-US" sz="11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24064" y="1623060"/>
            <a:ext cx="31089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8134960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134960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707728" y="1623060"/>
            <a:ext cx="31089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0018624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0018624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2423160"/>
            <a:ext cx="3545738" cy="3337560"/>
          </a:xfrm>
          <a:prstGeom prst="roundRect">
            <a:avLst>
              <a:gd name="adj" fmla="val 1918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48640" y="2423160"/>
            <a:ext cx="3545738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31520" y="2587752"/>
            <a:ext cx="3179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" y="2953512"/>
            <a:ext cx="317997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balls · 16 or 32 bins · 10 trials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or unweighted balls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or randomly initialized bins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policy + parameters (k, heap size s)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and cost weights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22978" y="2423160"/>
            <a:ext cx="3545738" cy="3337560"/>
          </a:xfrm>
          <a:prstGeom prst="roundRect">
            <a:avLst>
              <a:gd name="adj" fmla="val 1918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4322978" y="2423160"/>
            <a:ext cx="3545738" cy="54864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05858" y="2587752"/>
            <a:ext cx="3179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05858" y="2935224"/>
            <a:ext cx="317997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15803D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4615586" y="3026664"/>
            <a:ext cx="29605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SimulationBase</a:t>
            </a: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‹abstract›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615586" y="3264408"/>
            <a:ext cx="29605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load array, ball arrival, and cost accumulation.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4615586" y="3493008"/>
            <a:ext cx="29605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Subclasses implement only: select bin.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4505858" y="3922776"/>
            <a:ext cx="31799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</a:t>
            </a:r>
            <a:r>
              <a:rPr lang="en-US" sz="108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PowerKSimulator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4707026" y="4142232"/>
            <a:ext cx="29788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Power-k, Absolute minimum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4505858" y="4434840"/>
            <a:ext cx="31799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</a:t>
            </a:r>
            <a:r>
              <a:rPr lang="en-US" sz="108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StatefulRoundRobinSimulator</a:t>
            </a:r>
            <a:endParaRPr lang="en-US" sz="1080" dirty="0"/>
          </a:p>
        </p:txBody>
      </p:sp>
      <p:sp>
        <p:nvSpPr>
          <p:cNvPr id="35" name="Text 33"/>
          <p:cNvSpPr/>
          <p:nvPr/>
        </p:nvSpPr>
        <p:spPr>
          <a:xfrm>
            <a:off x="4707026" y="4654296"/>
            <a:ext cx="29788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 pointer state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4505858" y="4946904"/>
            <a:ext cx="31799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</a:t>
            </a:r>
            <a:r>
              <a:rPr lang="en-US" sz="1080" b="1" dirty="0">
                <a:solidFill>
                  <a:srgbClr val="C26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HeapSizeSPowerOfKSimulator</a:t>
            </a:r>
            <a:endParaRPr lang="en-US" sz="1080" dirty="0"/>
          </a:p>
        </p:txBody>
      </p:sp>
      <p:sp>
        <p:nvSpPr>
          <p:cNvPr id="37" name="Text 35"/>
          <p:cNvSpPr/>
          <p:nvPr/>
        </p:nvSpPr>
        <p:spPr>
          <a:xfrm>
            <a:off x="4707026" y="5166360"/>
            <a:ext cx="29788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heap / full heap state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8097317" y="2423160"/>
            <a:ext cx="3545738" cy="3337560"/>
          </a:xfrm>
          <a:prstGeom prst="roundRect">
            <a:avLst>
              <a:gd name="adj" fmla="val 1918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9" name="Shape 37"/>
          <p:cNvSpPr/>
          <p:nvPr/>
        </p:nvSpPr>
        <p:spPr>
          <a:xfrm>
            <a:off x="8097317" y="2423160"/>
            <a:ext cx="3545738" cy="54864"/>
          </a:xfrm>
          <a:prstGeom prst="rect">
            <a:avLst/>
          </a:prstGeom>
          <a:solidFill>
            <a:srgbClr val="C2660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8280197" y="2587752"/>
            <a:ext cx="3179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C26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OUTPUT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280197" y="2953512"/>
            <a:ext cx="317997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min load, max–min gap, CV / imbalance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ball and total cost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across all 10 trials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a results CSV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script turns the CSV into the deck's plots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simulators inherit from a shared SimulationBase — they differ only in how each selects a bin.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Baseline: Power-2 Captures Most of the Gain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4" name="Image 0" descr="/home/claude/work/assets/plot_clean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188720"/>
            <a:ext cx="4007815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3"/>
          <p:cNvSpPr/>
          <p:nvPr/>
        </p:nvSpPr>
        <p:spPr>
          <a:xfrm>
            <a:off x="7799832" y="1261872"/>
            <a:ext cx="3678631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666.1 → 626.4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799832" y="2039112"/>
            <a:ext cx="3678631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n=16  (RANDOM → POWER-2)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35240" y="2743200"/>
            <a:ext cx="4007815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7799832" y="2816352"/>
            <a:ext cx="3678631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345.3 → 313.9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99832" y="3593592"/>
            <a:ext cx="3678631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n=32  (RANDOM → POWER-2)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35240" y="4343400"/>
            <a:ext cx="40078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minimum adds only a small improvement beyond Power-2 — at much higher cost.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Text 10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Power-2 nearly closes the gap to the ideal policy in the clean, unweighted case.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Diminishing Returns of 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4" name="Image 0" descr="/home/claude/work/assets/plot_diminishing_retu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188720"/>
            <a:ext cx="4007815" cy="155448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3"/>
          <p:cNvSpPr/>
          <p:nvPr/>
        </p:nvSpPr>
        <p:spPr>
          <a:xfrm>
            <a:off x="7799832" y="1261872"/>
            <a:ext cx="3678631" cy="9015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626.4 / 626.0 / 625.9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799832" y="2121408"/>
            <a:ext cx="367863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n=16 — POWER 2 / 3 / 4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99832" y="2395728"/>
            <a:ext cx="36786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ball: 9 / 14 / 19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2926080"/>
            <a:ext cx="4007815" cy="155448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7799832" y="2999232"/>
            <a:ext cx="3678631" cy="9015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313.9 / 313.6 / 313.0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799832" y="3858768"/>
            <a:ext cx="367863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n=32 — POWER 2 / 3 / 4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99832" y="4133088"/>
            <a:ext cx="36786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ball: 9 / 14 / 19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635240" y="4709160"/>
            <a:ext cx="40078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grows roughly linearly with k — quality gain does not.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5" name="Text 12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improvement is k=1 → k=2. Larger k mostly increases cost.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Cost–Quality Tradeoff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4" name="Image 0" descr="/home/claude/work/assets/plot_cost_quality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143000"/>
            <a:ext cx="9509760" cy="407561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440680"/>
            <a:ext cx="3576218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3"/>
          <p:cNvSpPr/>
          <p:nvPr/>
        </p:nvSpPr>
        <p:spPr>
          <a:xfrm>
            <a:off x="713232" y="5440680"/>
            <a:ext cx="32470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minimum  </a:t>
            </a: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Near-optimal — but expensive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307738" y="5440680"/>
            <a:ext cx="3576218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5"/>
          <p:cNvSpPr/>
          <p:nvPr/>
        </p:nvSpPr>
        <p:spPr>
          <a:xfrm>
            <a:off x="4472330" y="5440680"/>
            <a:ext cx="32470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  </a:t>
            </a: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excellent here — but fragile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066837" y="5440680"/>
            <a:ext cx="3576218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8231429" y="5440680"/>
            <a:ext cx="32470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26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Power-2  </a:t>
            </a: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knee of the curve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2" name="Text 9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Power-2 delivers most of the achievable quality for a small, flat cost — the knee of the curve.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Balls Break Count Fairness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4" name="Image 0" descr="/home/claude/work/assets/plot_weighted_brea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188720"/>
            <a:ext cx="4007815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3"/>
          <p:cNvSpPr/>
          <p:nvPr/>
        </p:nvSpPr>
        <p:spPr>
          <a:xfrm>
            <a:off x="7799832" y="1261872"/>
            <a:ext cx="3678631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1812.6  vs  1731.6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799832" y="2039112"/>
            <a:ext cx="3678631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WEIGHTED n=32 — ROUND-ROBIN vs POWER-2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635240" y="2788920"/>
            <a:ext cx="4007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by count can still be bad by load. Power-2 reads current load and adapts; round-robin does not.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635240" y="3977640"/>
            <a:ext cx="4007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pattern appears at n=16: round-robin's clean-case advantage disappears once balls carry weight.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1" name="Text 8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 balances counts, not load — weighted balls expose that weakness.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Stateful Heap: When Maintained State Helps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4" name="Image 0" descr="/home/claude/work/assets/plot_heap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188720"/>
            <a:ext cx="4007815" cy="155448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3"/>
          <p:cNvSpPr/>
          <p:nvPr/>
        </p:nvSpPr>
        <p:spPr>
          <a:xfrm>
            <a:off x="7799832" y="1261872"/>
            <a:ext cx="3678631" cy="9015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266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38.3  vs  ≈ 159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799832" y="2121408"/>
            <a:ext cx="367863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BALL — FULL HEAP vs ABSOLUTE MINIMUM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635240" y="2697480"/>
            <a:ext cx="4007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heap matches absolute-minimum quality (max load ≈ 1724.7) at a fraction of the cost.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635240" y="3611880"/>
            <a:ext cx="4007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heap tracks s bins; full heap tracks all bins. More state steadily improves quality, at rising update cost.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1" name="Text 8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maintained heap can approach global-min quality without scanning all bins every time.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Initialization Tests Robustness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4" name="Image 0" descr="/home/claude/work/assets/plot_initializ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188720"/>
            <a:ext cx="4007815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3"/>
          <p:cNvSpPr/>
          <p:nvPr/>
        </p:nvSpPr>
        <p:spPr>
          <a:xfrm>
            <a:off x="7799832" y="1261872"/>
            <a:ext cx="3678631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4755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679.3  vs  678.0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799832" y="2039112"/>
            <a:ext cx="3678631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n=16 — POWER-2 vs REFERENCE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35240" y="2743200"/>
            <a:ext cx="4007815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7799832" y="2816352"/>
            <a:ext cx="3678631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4755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365.4  vs  364.0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99832" y="3593592"/>
            <a:ext cx="3678631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n=32 — POWER-2 vs REFERENCE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35240" y="4343400"/>
            <a:ext cx="40078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systems rarely start from zero. Round-robin can preserve — rather than correct — initial imbalance.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Text 10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from non-empty bins exposes whether a policy corrects imbalance or just preserves it.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Realistic Tradeoff: Weighted + Initialized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4" name="Image 0" descr="/home/claude/work/assets/plot_cost_quality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143000"/>
            <a:ext cx="9509760" cy="407561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440680"/>
            <a:ext cx="2636444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3"/>
          <p:cNvSpPr/>
          <p:nvPr/>
        </p:nvSpPr>
        <p:spPr>
          <a:xfrm>
            <a:off x="685800" y="544068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weak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3367964" y="5440680"/>
            <a:ext cx="2636444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5"/>
          <p:cNvSpPr/>
          <p:nvPr/>
        </p:nvSpPr>
        <p:spPr>
          <a:xfrm>
            <a:off x="3505124" y="544068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minimum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87288" y="5440680"/>
            <a:ext cx="2636444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6324448" y="544068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9006611" y="5440680"/>
            <a:ext cx="2636444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2" name="Text 9"/>
          <p:cNvSpPr/>
          <p:nvPr/>
        </p:nvSpPr>
        <p:spPr>
          <a:xfrm>
            <a:off x="9143771" y="544068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26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Power-2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stateless, robust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4" name="Text 11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weighted, initialized conditions, Power-2 is the strongest simple default.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CONCLUSION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21792" y="9601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choices is the best default.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9875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balance benefit, with little decision cost.</a:t>
            </a:r>
            <a:endParaRPr lang="en-US" sz="17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robustness across weighted balls and initialized bins.</a:t>
            </a:r>
            <a:endParaRPr lang="en-US" sz="17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global knowledge is rarely worth the price.</a:t>
            </a:r>
            <a:endParaRPr lang="en-US" sz="17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heap designs can improve quality further — when memory/update cost is justified.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21792" y="4892040"/>
            <a:ext cx="10927080" cy="960120"/>
          </a:xfrm>
          <a:prstGeom prst="roundRect">
            <a:avLst>
              <a:gd name="adj" fmla="val 7619"/>
            </a:avLst>
          </a:prstGeom>
          <a:solidFill>
            <a:srgbClr val="182A42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68680" y="502920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150" dirty="0">
                <a:solidFill>
                  <a:srgbClr val="6FA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DECISION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5303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load-balance quality per unit of decision and state cost.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1254</Words>
  <Application>Microsoft Office PowerPoint</Application>
  <PresentationFormat>מסך רחב</PresentationFormat>
  <Paragraphs>212</Paragraphs>
  <Slides>14</Slides>
  <Notes>14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Balls into Bins: Load Balancing Under Cost Constraints</dc:title>
  <dc:subject>PptxGenJS Presentation</dc:subject>
  <dc:creator>Kobi Kenzi</dc:creator>
  <cp:lastModifiedBy>קובי קנזי</cp:lastModifiedBy>
  <cp:revision>2</cp:revision>
  <dcterms:created xsi:type="dcterms:W3CDTF">2026-06-30T06:39:45Z</dcterms:created>
  <dcterms:modified xsi:type="dcterms:W3CDTF">2026-06-30T08:17:38Z</dcterms:modified>
</cp:coreProperties>
</file>