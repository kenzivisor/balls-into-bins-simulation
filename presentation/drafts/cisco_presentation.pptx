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diving into load balancing, specifically how we manage cost constraints. We'll explore the 'Power of Two Choices' from a systems perspective. This isn't just theory; we're looking at real engineering trade-offs. We'll analyze various algorithms to find the most efficient strategies for system design. Our goal is to move beyond abstract math and focus on practical implications.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our core engineering challenge: how much global information is truly worth its cost? In distributed systems, we always want to minimize load and imbalance. But every piece of information, whether sampled or maintained, adds cost. We're asking if minimal local information can achieve near-optimal balance. We want to find that 'knee of the curve' where quality is high and cost is manageable. This sets the stage for our experimental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that, we built a robust experimental setup. We stress-tested policies under both ideal and adversarial conditions. Our consistent parameters ensure fair comparisons across all algorithms. We're tracking maximum load and decision cost per ball. This allows us to quantify the load-balance quality we get for every unit of decision cost. Now, let's look at the algorithms we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categorized our algorithms into three families: stateless, stateful, and those with global knowledge. Each family has different information requirements and state management overhead. For example, 'Random' is very low cost, while 'Absolute Minimum' has a high scan cost. This comparison highlights the fundamental trade-off we're exploring. Next, we'll dive into the 'Power of Two Choices' as our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of Two Choices' is a critical baseline. It shows that even a small amount of choice dramatically improves load distribution. Our simulation confirms this: moving from Random, which is k=1, to Power-2, which is k=2, sharply reduces maximum load. Power-2 nearly matches the ideal global policy in clean scenarios, but at a much lower cost. This means Power-2 captures most of the load-balancing benefit with minimal decision cost. But what happens if we increase 'k' even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Power of Two Choices gives us a huge win, we quickly hit diminishing returns. Sampling more than two bins rarely justifies the increased cost. We see here that the improvement from k=2 to k=4 is marginal. But the decision cost increases linearly with k. For most stateless applications, k=2 offers the optimal balance between performance and overhead. So, we get most of the benefit without the extra work. Now, let's look at how simple stateful policies fare.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from stateless to simple state, Round-robin is often praised for its simplicity. But this simplicity comes with a critical flaw: it balances counts, not actual load. Round-robin is a blind policy; it assumes all balls are equal. When ball weights vary, Round-robin completely fails to account for actual load. This leads to significant imbalances. Stateful policies must be load-aware to be robust under variable workloads. Simple sequencing just isn't enough. So, how can we use state more effectively?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a Heap-based approach shines, approaching global quality with state. By maintaining a heap of bin loads, we achieve near-global allocation quality. We do this without the high cost of scanning every bin for every ball. A full heap strategy matches the quality of the 'Absolute Minimum' policy. But it does so at a fraction of the per-ball decision cost. Heap-based designs are the superior choice when your system can afford the memory and update overhead of maintaining state. Next, we'll see how these policies handle initial imbalances.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systems rarely start from a clean slate; they often have existing loads. This slide highlights how different policies handle initial imbalances. Randomized sampling, like Power-2, naturally self-corrects by favoring under-loaded bins. This is a critical advantage in dynamic environments. In contrast, simple sequence-based policies, such as Round-robin, can actually perpetuate or worsen existing imbalances. This self-healing property of randomized sampling is crucial for system stability. Next, we'll bring all these insights together to define the final performance trade-offs.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the complete picture, considering the most realistic conditions: weighted balls and pre-initialized bins. This slide presents the final performance hierarchy. Power-2 consistently emerges as the strongest default, offering excellent performance without state. For those needing the absolute highest quality, Heap-based methods are optimal, provided you can manage the state overhead. This analysis helps us choose the right strategy based on specific system constraints. We'll now summarize these findings into actionable engineering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our findings, we have three key engineering recommendations. First, Power-2 is your best default; it's robust, low-cost, and stateless. Second, use Heap-based designs only when near-perfect balance justifies the added memory and update costs. Finally, remember that global knowledge is rarely worth the expense; the marginal gains over Power-2 or Heap are minimal. Ultimately, always optimize for load-balance quality per unit of decision and state cost. For most systems, the power of two choices is truly all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828800" y="1679953"/>
            <a:ext cx="6400800" cy="1005818"/>
          </a:xfrm>
          <a:prstGeom prst="rect">
            <a:avLst/>
          </a:prstGeom>
          <a:noFill/>
          <a:ln/>
        </p:spPr>
        <p:txBody>
          <a:bodyPr wrap="square" lIns="0" tIns="0" rIns="0" bIns="0" rtlCol="0" anchor="t">
            <a:spAutoFit/>
          </a:bodyPr>
          <a:lstStyle/>
          <a:p>
            <a:pPr algn="l" indent="0" marL="0">
              <a:lnSpc>
                <a:spcPct val="88000"/>
              </a:lnSpc>
              <a:buNone/>
            </a:pPr>
            <a:r>
              <a:rPr lang="en-US" sz="3300" b="1" dirty="0">
                <a:solidFill>
                  <a:srgbClr val="171717"/>
                </a:solidFill>
                <a:latin typeface="Inter Bold" pitchFamily="34" charset="0"/>
                <a:ea typeface="Inter Bold" pitchFamily="34" charset="-122"/>
                <a:cs typeface="Inter Bold" pitchFamily="34" charset="-120"/>
              </a:rPr>
              <a:t>Load Balancing Under Cost Constraints</a:t>
            </a:r>
            <a:endParaRPr lang="en-US" sz="3300" dirty="0"/>
          </a:p>
        </p:txBody>
      </p:sp>
      <p:sp>
        <p:nvSpPr>
          <p:cNvPr id="5" name="Text 1"/>
          <p:cNvSpPr/>
          <p:nvPr/>
        </p:nvSpPr>
        <p:spPr>
          <a:xfrm>
            <a:off x="1828800" y="2857221"/>
            <a:ext cx="6400800" cy="276820"/>
          </a:xfrm>
          <a:prstGeom prst="rect">
            <a:avLst/>
          </a:prstGeom>
          <a:noFill/>
          <a:ln/>
        </p:spPr>
        <p:txBody>
          <a:bodyPr wrap="square" lIns="0" tIns="0" rIns="0" bIns="0" rtlCol="0" anchor="t">
            <a:spAutoFit/>
          </a:bodyPr>
          <a:lstStyle/>
          <a:p>
            <a:pPr algn="l" indent="0" marL="0">
              <a:buNone/>
            </a:pPr>
            <a:r>
              <a:rPr lang="en-US" sz="1700" dirty="0">
                <a:solidFill>
                  <a:srgbClr val="404040"/>
                </a:solidFill>
                <a:latin typeface="Inter Medium" pitchFamily="34" charset="0"/>
                <a:ea typeface="Inter Medium" pitchFamily="34" charset="-122"/>
                <a:cs typeface="Inter Medium" pitchFamily="34" charset="-120"/>
              </a:rPr>
              <a:t>A Systems Perspective on the Power of Two Choices</a:t>
            </a:r>
            <a:endParaRPr lang="en-US" sz="1700" dirty="0"/>
          </a:p>
        </p:txBody>
      </p:sp>
      <p:sp>
        <p:nvSpPr>
          <p:cNvPr id="6" name="Text 2"/>
          <p:cNvSpPr/>
          <p:nvPr/>
        </p:nvSpPr>
        <p:spPr>
          <a:xfrm>
            <a:off x="1828800" y="3391216"/>
            <a:ext cx="6400800" cy="364331"/>
          </a:xfrm>
          <a:prstGeom prst="rect">
            <a:avLst/>
          </a:prstGeom>
          <a:noFill/>
          <a:ln/>
        </p:spPr>
        <p:txBody>
          <a:bodyPr wrap="square" lIns="170053" tIns="0" rIns="0" bIns="0" rtlCol="0" anchor="t">
            <a:spAutoFit/>
          </a:bodyPr>
          <a:lstStyle/>
          <a:p>
            <a:pPr algn="l" indent="0" marL="0">
              <a:buNone/>
            </a:pPr>
            <a:r>
              <a:rPr lang="en-US" sz="1050" dirty="0">
                <a:solidFill>
                  <a:srgbClr val="16A34A"/>
                </a:solidFill>
                <a:latin typeface="Space Grotesk" pitchFamily="34" charset="0"/>
                <a:ea typeface="Space Grotesk" pitchFamily="34" charset="-122"/>
                <a:cs typeface="Space Grotesk" pitchFamily="34" charset="-120"/>
              </a:rPr>
              <a:t>Cisco Systems Performance Evaluation</a:t>
            </a:r>
            <a:r>
              <a:rPr lang="en-US" sz="1050" dirty="0">
                <a:solidFill>
                  <a:srgbClr val="16A34A"/>
                </a:solidFill>
                <a:latin typeface="Space Grotesk" pitchFamily="34" charset="0"/>
                <a:ea typeface="Space Grotesk" pitchFamily="34" charset="-122"/>
                <a:cs typeface="Space Grotesk" pitchFamily="34" charset="-120"/>
              </a:rPr>
              <a:t>
</a:t>
            </a:r>
            <a:r>
              <a:rPr lang="en-US" sz="1050" dirty="0">
                <a:solidFill>
                  <a:srgbClr val="16A34A"/>
                </a:solidFill>
                <a:latin typeface="Space Grotesk" pitchFamily="34" charset="0"/>
                <a:ea typeface="Space Grotesk" pitchFamily="34" charset="-122"/>
                <a:cs typeface="Space Grotesk" pitchFamily="34" charset="-120"/>
              </a:rPr>
              <a:t>Balls-into-Bins Simulation Study</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828800" y="571500"/>
            <a:ext cx="6400800" cy="411463"/>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171717"/>
                </a:solidFill>
                <a:latin typeface="Inter Bold" pitchFamily="34" charset="0"/>
                <a:ea typeface="Inter Bold" pitchFamily="34" charset="-122"/>
                <a:cs typeface="Inter Bold" pitchFamily="34" charset="-120"/>
              </a:rPr>
              <a:t>The Core Engineering Trade-off</a:t>
            </a:r>
            <a:endParaRPr lang="en-US" sz="2450" dirty="0"/>
          </a:p>
        </p:txBody>
      </p:sp>
      <p:sp>
        <p:nvSpPr>
          <p:cNvPr id="5" name="Text 1"/>
          <p:cNvSpPr/>
          <p:nvPr/>
        </p:nvSpPr>
        <p:spPr>
          <a:xfrm>
            <a:off x="1828800" y="1040113"/>
            <a:ext cx="6400800" cy="242888"/>
          </a:xfrm>
          <a:prstGeom prst="rect">
            <a:avLst/>
          </a:prstGeom>
          <a:noFill/>
          <a:ln/>
        </p:spPr>
        <p:txBody>
          <a:bodyPr wrap="square" lIns="0" tIns="0" rIns="0" bIns="0" rtlCol="0" anchor="t">
            <a:spAutoFit/>
          </a:bodyPr>
          <a:lstStyle/>
          <a:p>
            <a:pPr algn="l" indent="0" marL="0">
              <a:buNone/>
            </a:pPr>
            <a:r>
              <a:rPr lang="en-US" sz="1500" dirty="0">
                <a:solidFill>
                  <a:srgbClr val="16A34A"/>
                </a:solidFill>
                <a:latin typeface="Inter Medium" pitchFamily="34" charset="0"/>
                <a:ea typeface="Inter Medium" pitchFamily="34" charset="-122"/>
                <a:cs typeface="Inter Medium" pitchFamily="34" charset="-120"/>
              </a:rPr>
              <a:t>How much global information is worth the cost?</a:t>
            </a:r>
            <a:endParaRPr lang="en-US" sz="1500" dirty="0"/>
          </a:p>
        </p:txBody>
      </p:sp>
      <p:sp>
        <p:nvSpPr>
          <p:cNvPr id="6" name="Text 2"/>
          <p:cNvSpPr/>
          <p:nvPr/>
        </p:nvSpPr>
        <p:spPr>
          <a:xfrm>
            <a:off x="1828800" y="1440163"/>
            <a:ext cx="6400800" cy="1005818"/>
          </a:xfrm>
          <a:prstGeom prst="rect">
            <a:avLst/>
          </a:prstGeom>
          <a:noFill/>
          <a:ln/>
        </p:spPr>
        <p:txBody>
          <a:bodyPr wrap="square" lIns="0" tIns="0" rIns="0" bIns="0" rtlCol="0" anchor="t">
            <a:spAutoFit/>
          </a:bodyPr>
          <a:lstStyle/>
          <a:p>
            <a:pPr algn="l" indent="0" marL="0">
              <a:lnSpc>
                <a:spcPct val="128000"/>
              </a:lnSpc>
              <a:buNone/>
            </a:pPr>
            <a:r>
              <a:rPr lang="en-US" sz="1150" dirty="0">
                <a:solidFill>
                  <a:srgbClr val="404040"/>
                </a:solidFill>
                <a:latin typeface="Inter Medium" pitchFamily="34" charset="0"/>
                <a:ea typeface="Inter Medium" pitchFamily="34" charset="-122"/>
                <a:cs typeface="Inter Medium" pitchFamily="34" charset="-120"/>
              </a:rPr>
              <a:t>In any distributed system, the primary objective is to minimize maximum load and imbalance across available resources. However, every bit of information—whether obtained through active sampling or maintained as internal state—incurs a non-trivial performance cost.</a:t>
            </a:r>
            <a:endParaRPr lang="en-US" sz="1150" dirty="0"/>
          </a:p>
        </p:txBody>
      </p:sp>
      <p:sp>
        <p:nvSpPr>
          <p:cNvPr id="7" name="Text 3"/>
          <p:cNvSpPr/>
          <p:nvPr/>
        </p:nvSpPr>
        <p:spPr>
          <a:xfrm>
            <a:off x="1985963" y="2646006"/>
            <a:ext cx="6243638" cy="182166"/>
          </a:xfrm>
          <a:prstGeom prst="rect">
            <a:avLst/>
          </a:prstGeom>
          <a:noFill/>
          <a:ln/>
        </p:spPr>
        <p:txBody>
          <a:bodyPr wrap="square" lIns="0" tIns="0" rIns="0" bIns="0" rtlCol="0" anchor="t">
            <a:spAutoFit/>
          </a:bodyPr>
          <a:lstStyle/>
          <a:p>
            <a:pPr algn="l" indent="0" marL="0">
              <a:buNone/>
            </a:pPr>
            <a:r>
              <a:rPr lang="en-US" sz="1000" b="1" spc="1" kern="0" dirty="0">
                <a:solidFill>
                  <a:srgbClr val="16A34A"/>
                </a:solidFill>
                <a:latin typeface="Space Grotesk" pitchFamily="34" charset="0"/>
                <a:ea typeface="Space Grotesk" pitchFamily="34" charset="-122"/>
                <a:cs typeface="Space Grotesk" pitchFamily="34" charset="-120"/>
              </a:rPr>
              <a:t>TAKEAWAY</a:t>
            </a:r>
            <a:endParaRPr lang="en-US" sz="1000" dirty="0"/>
          </a:p>
        </p:txBody>
      </p:sp>
      <p:sp>
        <p:nvSpPr>
          <p:cNvPr id="8" name="Text 4"/>
          <p:cNvSpPr/>
          <p:nvPr/>
        </p:nvSpPr>
        <p:spPr>
          <a:xfrm>
            <a:off x="1985963" y="2885322"/>
            <a:ext cx="6243638" cy="414338"/>
          </a:xfrm>
          <a:prstGeom prst="rect">
            <a:avLst/>
          </a:prstGeom>
          <a:noFill/>
          <a:ln/>
        </p:spPr>
        <p:txBody>
          <a:bodyPr wrap="square" lIns="0" tIns="0" rIns="0" bIns="0" rtlCol="0" anchor="t">
            <a:spAutoFit/>
          </a:bodyPr>
          <a:lstStyle/>
          <a:p>
            <a:pPr algn="l" indent="0" marL="0">
              <a:buNone/>
            </a:pPr>
            <a:r>
              <a:rPr lang="en-US" sz="1250" dirty="0">
                <a:solidFill>
                  <a:srgbClr val="171717"/>
                </a:solidFill>
                <a:latin typeface="Inter Medium" pitchFamily="34" charset="0"/>
                <a:ea typeface="Inter Medium" pitchFamily="34" charset="-122"/>
                <a:cs typeface="Inter Medium" pitchFamily="34" charset="-120"/>
              </a:rPr>
              <a:t>Small local information often captures the vast majority of load-balancing benefits.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828800" y="428625"/>
            <a:ext cx="6400800" cy="411463"/>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171717"/>
                </a:solidFill>
                <a:latin typeface="Inter Bold" pitchFamily="34" charset="0"/>
                <a:ea typeface="Inter Bold" pitchFamily="34" charset="-122"/>
                <a:cs typeface="Inter Bold" pitchFamily="34" charset="-120"/>
              </a:rPr>
              <a:t>Experimental Setup</a:t>
            </a:r>
            <a:endParaRPr lang="en-US" sz="2450" dirty="0"/>
          </a:p>
        </p:txBody>
      </p:sp>
      <p:sp>
        <p:nvSpPr>
          <p:cNvPr id="5" name="Text 1"/>
          <p:cNvSpPr/>
          <p:nvPr/>
        </p:nvSpPr>
        <p:spPr>
          <a:xfrm>
            <a:off x="1828800" y="897238"/>
            <a:ext cx="6400800" cy="242888"/>
          </a:xfrm>
          <a:prstGeom prst="rect">
            <a:avLst/>
          </a:prstGeom>
          <a:noFill/>
          <a:ln/>
        </p:spPr>
        <p:txBody>
          <a:bodyPr wrap="square" lIns="0" tIns="0" rIns="0" bIns="0" rtlCol="0" anchor="t">
            <a:spAutoFit/>
          </a:bodyPr>
          <a:lstStyle/>
          <a:p>
            <a:pPr algn="l" indent="0" marL="0">
              <a:buNone/>
            </a:pPr>
            <a:r>
              <a:rPr lang="en-US" sz="1500" dirty="0">
                <a:solidFill>
                  <a:srgbClr val="16A34A"/>
                </a:solidFill>
                <a:latin typeface="Inter Medium" pitchFamily="34" charset="0"/>
                <a:ea typeface="Inter Medium" pitchFamily="34" charset="-122"/>
                <a:cs typeface="Inter Medium" pitchFamily="34" charset="-120"/>
              </a:rPr>
              <a:t>Stress-testing policies across realistic scenarios</a:t>
            </a:r>
            <a:endParaRPr lang="en-US" sz="1500" dirty="0"/>
          </a:p>
        </p:txBody>
      </p:sp>
      <p:sp>
        <p:nvSpPr>
          <p:cNvPr id="6" name="Text 2"/>
          <p:cNvSpPr/>
          <p:nvPr/>
        </p:nvSpPr>
        <p:spPr>
          <a:xfrm>
            <a:off x="1828800" y="1283001"/>
            <a:ext cx="6400800" cy="428625"/>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404040"/>
                </a:solidFill>
                <a:latin typeface="Inter Medium" pitchFamily="34" charset="0"/>
                <a:ea typeface="Inter Medium" pitchFamily="34" charset="-122"/>
                <a:cs typeface="Inter Medium" pitchFamily="34" charset="-120"/>
              </a:rPr>
              <a:t>The simulation framework is designed to evaluate policies under both clean and adversarial conditions, ensuring findings are comparable across algorithm families.</a:t>
            </a:r>
            <a:endParaRPr lang="en-US" sz="1050" dirty="0"/>
          </a:p>
        </p:txBody>
      </p:sp>
      <p:sp>
        <p:nvSpPr>
          <p:cNvPr id="7" name="Text 3"/>
          <p:cNvSpPr/>
          <p:nvPr/>
        </p:nvSpPr>
        <p:spPr>
          <a:xfrm>
            <a:off x="1828800" y="1797351"/>
            <a:ext cx="1920218" cy="214313"/>
          </a:xfrm>
          <a:prstGeom prst="rect">
            <a:avLst/>
          </a:prstGeom>
          <a:noFill/>
          <a:ln/>
        </p:spPr>
        <p:txBody>
          <a:bodyPr wrap="square" lIns="8509" tIns="68072" rIns="8509" bIns="8509" rtlCol="0" anchor="ctr">
            <a:spAutoFit/>
          </a:bodyPr>
          <a:lstStyle/>
          <a:p>
            <a:pPr algn="l" indent="0" marL="0">
              <a:buNone/>
            </a:pPr>
            <a:r>
              <a:rPr lang="en-US" sz="800" b="1" spc="1" kern="0" dirty="0">
                <a:solidFill>
                  <a:srgbClr val="16A34A"/>
                </a:solidFill>
                <a:latin typeface="Space Grotesk" pitchFamily="34" charset="0"/>
                <a:ea typeface="Space Grotesk" pitchFamily="34" charset="-122"/>
                <a:cs typeface="Space Grotesk" pitchFamily="34" charset="-120"/>
              </a:rPr>
              <a:t>PARAMETER</a:t>
            </a:r>
            <a:endParaRPr lang="en-US" sz="800" dirty="0"/>
          </a:p>
        </p:txBody>
      </p:sp>
      <p:sp>
        <p:nvSpPr>
          <p:cNvPr id="8" name="Text 4"/>
          <p:cNvSpPr/>
          <p:nvPr/>
        </p:nvSpPr>
        <p:spPr>
          <a:xfrm>
            <a:off x="3749018" y="1797351"/>
            <a:ext cx="4480582" cy="214313"/>
          </a:xfrm>
          <a:prstGeom prst="rect">
            <a:avLst/>
          </a:prstGeom>
          <a:noFill/>
          <a:ln/>
        </p:spPr>
        <p:txBody>
          <a:bodyPr wrap="square" lIns="8509" tIns="68072" rIns="8509" bIns="8509" rtlCol="0" anchor="ctr">
            <a:spAutoFit/>
          </a:bodyPr>
          <a:lstStyle/>
          <a:p>
            <a:pPr algn="l" indent="0" marL="0">
              <a:buNone/>
            </a:pPr>
            <a:r>
              <a:rPr lang="en-US" sz="800" b="1" spc="1" kern="0" dirty="0">
                <a:solidFill>
                  <a:srgbClr val="16A34A"/>
                </a:solidFill>
                <a:latin typeface="Space Grotesk" pitchFamily="34" charset="0"/>
                <a:ea typeface="Space Grotesk" pitchFamily="34" charset="-122"/>
                <a:cs typeface="Space Grotesk" pitchFamily="34" charset="-120"/>
              </a:rPr>
              <a:t>SIMULATION VALUE</a:t>
            </a:r>
            <a:endParaRPr lang="en-US" sz="800" dirty="0"/>
          </a:p>
        </p:txBody>
      </p:sp>
      <p:sp>
        <p:nvSpPr>
          <p:cNvPr id="9" name="Text 5"/>
          <p:cNvSpPr/>
          <p:nvPr/>
        </p:nvSpPr>
        <p:spPr>
          <a:xfrm>
            <a:off x="1828800" y="2011663"/>
            <a:ext cx="1920218" cy="244673"/>
          </a:xfrm>
          <a:prstGeom prst="rect">
            <a:avLst/>
          </a:prstGeom>
          <a:noFill/>
          <a:ln/>
        </p:spPr>
        <p:txBody>
          <a:bodyPr wrap="square" lIns="8509" tIns="68072" rIns="8509" bIns="8509" rtlCol="0" anchor="ctr">
            <a:spAutoFit/>
          </a:bodyPr>
          <a:lstStyle/>
          <a:p>
            <a:pPr algn="l" indent="0" marL="0">
              <a:buNone/>
            </a:pPr>
            <a:r>
              <a:rPr lang="en-US" sz="1000" b="1" dirty="0">
                <a:solidFill>
                  <a:srgbClr val="171717"/>
                </a:solidFill>
                <a:latin typeface="Inter Bold" pitchFamily="34" charset="0"/>
                <a:ea typeface="Inter Bold" pitchFamily="34" charset="-122"/>
                <a:cs typeface="Inter Bold" pitchFamily="34" charset="-120"/>
              </a:rPr>
              <a:t>Total Balls</a:t>
            </a:r>
            <a:endParaRPr lang="en-US" sz="1000" dirty="0"/>
          </a:p>
        </p:txBody>
      </p:sp>
      <p:sp>
        <p:nvSpPr>
          <p:cNvPr id="10" name="Text 6"/>
          <p:cNvSpPr/>
          <p:nvPr/>
        </p:nvSpPr>
        <p:spPr>
          <a:xfrm>
            <a:off x="3749018" y="2011663"/>
            <a:ext cx="4480582" cy="244673"/>
          </a:xfrm>
          <a:prstGeom prst="rect">
            <a:avLst/>
          </a:prstGeom>
          <a:noFill/>
          <a:ln/>
        </p:spPr>
        <p:txBody>
          <a:bodyPr wrap="square" lIns="8509" tIns="68072" rIns="8509" bIns="8509" rtlCol="0" anchor="ctr">
            <a:spAutoFit/>
          </a:bodyPr>
          <a:lstStyle/>
          <a:p>
            <a:pPr algn="l" indent="0" marL="0">
              <a:buNone/>
            </a:pPr>
            <a:r>
              <a:rPr lang="en-US" sz="1050" dirty="0">
                <a:solidFill>
                  <a:srgbClr val="404040"/>
                </a:solidFill>
                <a:latin typeface="Inter Medium" pitchFamily="34" charset="0"/>
                <a:ea typeface="Inter Medium" pitchFamily="34" charset="-122"/>
                <a:cs typeface="Inter Medium" pitchFamily="34" charset="-120"/>
              </a:rPr>
              <a:t>10,000</a:t>
            </a:r>
            <a:endParaRPr lang="en-US" sz="1050" dirty="0"/>
          </a:p>
        </p:txBody>
      </p:sp>
      <p:sp>
        <p:nvSpPr>
          <p:cNvPr id="11" name="Text 7"/>
          <p:cNvSpPr/>
          <p:nvPr/>
        </p:nvSpPr>
        <p:spPr>
          <a:xfrm>
            <a:off x="1828800" y="2256337"/>
            <a:ext cx="1920218" cy="244673"/>
          </a:xfrm>
          <a:prstGeom prst="rect">
            <a:avLst/>
          </a:prstGeom>
          <a:noFill/>
          <a:ln/>
        </p:spPr>
        <p:txBody>
          <a:bodyPr wrap="square" lIns="8509" tIns="68072" rIns="8509" bIns="8509" rtlCol="0" anchor="ctr">
            <a:spAutoFit/>
          </a:bodyPr>
          <a:lstStyle/>
          <a:p>
            <a:pPr algn="l" indent="0" marL="0">
              <a:buNone/>
            </a:pPr>
            <a:r>
              <a:rPr lang="en-US" sz="1000" b="1" dirty="0">
                <a:solidFill>
                  <a:srgbClr val="171717"/>
                </a:solidFill>
                <a:latin typeface="Inter Bold" pitchFamily="34" charset="0"/>
                <a:ea typeface="Inter Bold" pitchFamily="34" charset="-122"/>
                <a:cs typeface="Inter Bold" pitchFamily="34" charset="-120"/>
              </a:rPr>
              <a:t>Bin Counts</a:t>
            </a:r>
            <a:endParaRPr lang="en-US" sz="1000" dirty="0"/>
          </a:p>
        </p:txBody>
      </p:sp>
      <p:sp>
        <p:nvSpPr>
          <p:cNvPr id="12" name="Text 8"/>
          <p:cNvSpPr/>
          <p:nvPr/>
        </p:nvSpPr>
        <p:spPr>
          <a:xfrm>
            <a:off x="3749018" y="2256337"/>
            <a:ext cx="4480582" cy="244673"/>
          </a:xfrm>
          <a:prstGeom prst="rect">
            <a:avLst/>
          </a:prstGeom>
          <a:noFill/>
          <a:ln/>
        </p:spPr>
        <p:txBody>
          <a:bodyPr wrap="square" lIns="8509" tIns="68072" rIns="8509" bIns="8509" rtlCol="0" anchor="ctr">
            <a:spAutoFit/>
          </a:bodyPr>
          <a:lstStyle/>
          <a:p>
            <a:pPr algn="l" indent="0" marL="0">
              <a:buNone/>
            </a:pPr>
            <a:r>
              <a:rPr lang="en-US" sz="1050" dirty="0">
                <a:solidFill>
                  <a:srgbClr val="404040"/>
                </a:solidFill>
                <a:latin typeface="Inter Medium" pitchFamily="34" charset="0"/>
                <a:ea typeface="Inter Medium" pitchFamily="34" charset="-122"/>
                <a:cs typeface="Inter Medium" pitchFamily="34" charset="-120"/>
              </a:rPr>
              <a:t>16 and 32</a:t>
            </a:r>
            <a:endParaRPr lang="en-US" sz="1050" dirty="0"/>
          </a:p>
        </p:txBody>
      </p:sp>
      <p:sp>
        <p:nvSpPr>
          <p:cNvPr id="13" name="Text 9"/>
          <p:cNvSpPr/>
          <p:nvPr/>
        </p:nvSpPr>
        <p:spPr>
          <a:xfrm>
            <a:off x="1828800" y="2501010"/>
            <a:ext cx="1920218" cy="244673"/>
          </a:xfrm>
          <a:prstGeom prst="rect">
            <a:avLst/>
          </a:prstGeom>
          <a:noFill/>
          <a:ln/>
        </p:spPr>
        <p:txBody>
          <a:bodyPr wrap="square" lIns="8509" tIns="68072" rIns="8509" bIns="8509" rtlCol="0" anchor="ctr">
            <a:spAutoFit/>
          </a:bodyPr>
          <a:lstStyle/>
          <a:p>
            <a:pPr algn="l" indent="0" marL="0">
              <a:buNone/>
            </a:pPr>
            <a:r>
              <a:rPr lang="en-US" sz="1000" b="1" dirty="0">
                <a:solidFill>
                  <a:srgbClr val="171717"/>
                </a:solidFill>
                <a:latin typeface="Inter Bold" pitchFamily="34" charset="0"/>
                <a:ea typeface="Inter Bold" pitchFamily="34" charset="-122"/>
                <a:cs typeface="Inter Bold" pitchFamily="34" charset="-120"/>
              </a:rPr>
              <a:t>Trial Count</a:t>
            </a:r>
            <a:endParaRPr lang="en-US" sz="1000" dirty="0"/>
          </a:p>
        </p:txBody>
      </p:sp>
      <p:sp>
        <p:nvSpPr>
          <p:cNvPr id="14" name="Text 10"/>
          <p:cNvSpPr/>
          <p:nvPr/>
        </p:nvSpPr>
        <p:spPr>
          <a:xfrm>
            <a:off x="3749018" y="2501010"/>
            <a:ext cx="4480582" cy="244673"/>
          </a:xfrm>
          <a:prstGeom prst="rect">
            <a:avLst/>
          </a:prstGeom>
          <a:noFill/>
          <a:ln/>
        </p:spPr>
        <p:txBody>
          <a:bodyPr wrap="square" lIns="8509" tIns="68072" rIns="8509" bIns="8509" rtlCol="0" anchor="ctr">
            <a:spAutoFit/>
          </a:bodyPr>
          <a:lstStyle/>
          <a:p>
            <a:pPr algn="l" indent="0" marL="0">
              <a:buNone/>
            </a:pPr>
            <a:r>
              <a:rPr lang="en-US" sz="1050" dirty="0">
                <a:solidFill>
                  <a:srgbClr val="404040"/>
                </a:solidFill>
                <a:latin typeface="Inter Medium" pitchFamily="34" charset="0"/>
                <a:ea typeface="Inter Medium" pitchFamily="34" charset="-122"/>
                <a:cs typeface="Inter Medium" pitchFamily="34" charset="-120"/>
              </a:rPr>
              <a:t>10 per scenario</a:t>
            </a:r>
            <a:endParaRPr lang="en-US" sz="1050" dirty="0"/>
          </a:p>
        </p:txBody>
      </p:sp>
      <p:sp>
        <p:nvSpPr>
          <p:cNvPr id="15" name="Text 11"/>
          <p:cNvSpPr/>
          <p:nvPr/>
        </p:nvSpPr>
        <p:spPr>
          <a:xfrm>
            <a:off x="1828800" y="2745684"/>
            <a:ext cx="1920218" cy="244673"/>
          </a:xfrm>
          <a:prstGeom prst="rect">
            <a:avLst/>
          </a:prstGeom>
          <a:noFill/>
          <a:ln/>
        </p:spPr>
        <p:txBody>
          <a:bodyPr wrap="square" lIns="8509" tIns="68072" rIns="8509" bIns="8509" rtlCol="0" anchor="ctr">
            <a:spAutoFit/>
          </a:bodyPr>
          <a:lstStyle/>
          <a:p>
            <a:pPr algn="l" indent="0" marL="0">
              <a:buNone/>
            </a:pPr>
            <a:r>
              <a:rPr lang="en-US" sz="1000" b="1" dirty="0">
                <a:solidFill>
                  <a:srgbClr val="171717"/>
                </a:solidFill>
                <a:latin typeface="Inter Bold" pitchFamily="34" charset="0"/>
                <a:ea typeface="Inter Bold" pitchFamily="34" charset="-122"/>
                <a:cs typeface="Inter Bold" pitchFamily="34" charset="-120"/>
              </a:rPr>
              <a:t>Workload Modes</a:t>
            </a:r>
            <a:endParaRPr lang="en-US" sz="1000" dirty="0"/>
          </a:p>
        </p:txBody>
      </p:sp>
      <p:sp>
        <p:nvSpPr>
          <p:cNvPr id="16" name="Text 12"/>
          <p:cNvSpPr/>
          <p:nvPr/>
        </p:nvSpPr>
        <p:spPr>
          <a:xfrm>
            <a:off x="3749018" y="2745684"/>
            <a:ext cx="4480582" cy="244673"/>
          </a:xfrm>
          <a:prstGeom prst="rect">
            <a:avLst/>
          </a:prstGeom>
          <a:noFill/>
          <a:ln/>
        </p:spPr>
        <p:txBody>
          <a:bodyPr wrap="square" lIns="8509" tIns="68072" rIns="8509" bIns="8509" rtlCol="0" anchor="ctr">
            <a:spAutoFit/>
          </a:bodyPr>
          <a:lstStyle/>
          <a:p>
            <a:pPr algn="l" indent="0" marL="0">
              <a:buNone/>
            </a:pPr>
            <a:r>
              <a:rPr lang="en-US" sz="1050" dirty="0">
                <a:solidFill>
                  <a:srgbClr val="404040"/>
                </a:solidFill>
                <a:latin typeface="Inter Medium" pitchFamily="34" charset="0"/>
                <a:ea typeface="Inter Medium" pitchFamily="34" charset="-122"/>
                <a:cs typeface="Inter Medium" pitchFamily="34" charset="-120"/>
              </a:rPr>
              <a:t>Unweighted/Weighted × Empty/Initialized</a:t>
            </a:r>
            <a:endParaRPr lang="en-US" sz="1050" dirty="0"/>
          </a:p>
        </p:txBody>
      </p:sp>
      <p:sp>
        <p:nvSpPr>
          <p:cNvPr id="17" name="Text 13"/>
          <p:cNvSpPr/>
          <p:nvPr/>
        </p:nvSpPr>
        <p:spPr>
          <a:xfrm>
            <a:off x="1828800" y="2990357"/>
            <a:ext cx="1920218" cy="244673"/>
          </a:xfrm>
          <a:prstGeom prst="rect">
            <a:avLst/>
          </a:prstGeom>
          <a:noFill/>
          <a:ln/>
        </p:spPr>
        <p:txBody>
          <a:bodyPr wrap="square" lIns="8509" tIns="68072" rIns="8509" bIns="8509" rtlCol="0" anchor="ctr">
            <a:spAutoFit/>
          </a:bodyPr>
          <a:lstStyle/>
          <a:p>
            <a:pPr algn="l" indent="0" marL="0">
              <a:buNone/>
            </a:pPr>
            <a:r>
              <a:rPr lang="en-US" sz="1000" b="1" dirty="0">
                <a:solidFill>
                  <a:srgbClr val="171717"/>
                </a:solidFill>
                <a:latin typeface="Inter Bold" pitchFamily="34" charset="0"/>
                <a:ea typeface="Inter Bold" pitchFamily="34" charset="-122"/>
                <a:cs typeface="Inter Bold" pitchFamily="34" charset="-120"/>
              </a:rPr>
              <a:t>Primary Metrics</a:t>
            </a:r>
            <a:endParaRPr lang="en-US" sz="1000" dirty="0"/>
          </a:p>
        </p:txBody>
      </p:sp>
      <p:sp>
        <p:nvSpPr>
          <p:cNvPr id="18" name="Text 14"/>
          <p:cNvSpPr/>
          <p:nvPr/>
        </p:nvSpPr>
        <p:spPr>
          <a:xfrm>
            <a:off x="3749018" y="2990357"/>
            <a:ext cx="4480582" cy="244673"/>
          </a:xfrm>
          <a:prstGeom prst="rect">
            <a:avLst/>
          </a:prstGeom>
          <a:noFill/>
          <a:ln/>
        </p:spPr>
        <p:txBody>
          <a:bodyPr wrap="square" lIns="8509" tIns="68072" rIns="8509" bIns="8509" rtlCol="0" anchor="ctr">
            <a:spAutoFit/>
          </a:bodyPr>
          <a:lstStyle/>
          <a:p>
            <a:pPr algn="l" indent="0" marL="0">
              <a:buNone/>
            </a:pPr>
            <a:r>
              <a:rPr lang="en-US" sz="1050" dirty="0">
                <a:solidFill>
                  <a:srgbClr val="404040"/>
                </a:solidFill>
                <a:latin typeface="Inter Medium" pitchFamily="34" charset="0"/>
                <a:ea typeface="Inter Medium" pitchFamily="34" charset="-122"/>
                <a:cs typeface="Inter Medium" pitchFamily="34" charset="-120"/>
              </a:rPr>
              <a:t>Maximum Load, Decision Cost per Ball</a:t>
            </a:r>
            <a:endParaRPr lang="en-US" sz="1050" dirty="0"/>
          </a:p>
        </p:txBody>
      </p:sp>
      <p:sp>
        <p:nvSpPr>
          <p:cNvPr id="19" name="Text 15"/>
          <p:cNvSpPr/>
          <p:nvPr/>
        </p:nvSpPr>
        <p:spPr>
          <a:xfrm>
            <a:off x="2043113" y="3395765"/>
            <a:ext cx="6186488" cy="164306"/>
          </a:xfrm>
          <a:prstGeom prst="rect">
            <a:avLst/>
          </a:prstGeom>
          <a:noFill/>
          <a:ln/>
        </p:spPr>
        <p:txBody>
          <a:bodyPr wrap="square" lIns="0" tIns="0" rIns="0" bIns="0" rtlCol="0" anchor="t">
            <a:spAutoFit/>
          </a:bodyPr>
          <a:lstStyle/>
          <a:p>
            <a:pPr algn="l" indent="0" marL="0">
              <a:buNone/>
            </a:pPr>
            <a:r>
              <a:rPr lang="en-US" sz="900" b="1" spc="1" kern="0" dirty="0">
                <a:solidFill>
                  <a:srgbClr val="16A34A"/>
                </a:solidFill>
                <a:latin typeface="Space Grotesk" pitchFamily="34" charset="0"/>
                <a:ea typeface="Space Grotesk" pitchFamily="34" charset="-122"/>
                <a:cs typeface="Space Grotesk" pitchFamily="34" charset="-120"/>
              </a:rPr>
              <a:t>OBJECTIVE</a:t>
            </a:r>
            <a:endParaRPr lang="en-US" sz="900" dirty="0"/>
          </a:p>
        </p:txBody>
      </p:sp>
      <p:sp>
        <p:nvSpPr>
          <p:cNvPr id="20" name="Text 16"/>
          <p:cNvSpPr/>
          <p:nvPr/>
        </p:nvSpPr>
        <p:spPr>
          <a:xfrm>
            <a:off x="2043113" y="3588646"/>
            <a:ext cx="6186488" cy="189309"/>
          </a:xfrm>
          <a:prstGeom prst="rect">
            <a:avLst/>
          </a:prstGeom>
          <a:noFill/>
          <a:ln/>
        </p:spPr>
        <p:txBody>
          <a:bodyPr wrap="square" lIns="0" tIns="0" rIns="0" bIns="0" rtlCol="0" anchor="t">
            <a:spAutoFit/>
          </a:bodyPr>
          <a:lstStyle/>
          <a:p>
            <a:pPr algn="l" indent="0" marL="0">
              <a:buNone/>
            </a:pPr>
            <a:r>
              <a:rPr lang="en-US" sz="1150" dirty="0">
                <a:solidFill>
                  <a:srgbClr val="171717"/>
                </a:solidFill>
                <a:latin typeface="Inter Medium" pitchFamily="34" charset="0"/>
                <a:ea typeface="Inter Medium" pitchFamily="34" charset="-122"/>
                <a:cs typeface="Inter Medium" pitchFamily="34" charset="-120"/>
              </a:rPr>
              <a:t>Quantify the load-balance quality bought for each unit of decision cost.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828800" y="428625"/>
            <a:ext cx="6400800" cy="411463"/>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171717"/>
                </a:solidFill>
                <a:latin typeface="Inter Bold" pitchFamily="34" charset="0"/>
                <a:ea typeface="Inter Bold" pitchFamily="34" charset="-122"/>
                <a:cs typeface="Inter Bold" pitchFamily="34" charset="-120"/>
              </a:rPr>
              <a:t>Algorithms: From Random to Global</a:t>
            </a:r>
            <a:endParaRPr lang="en-US" sz="2450" dirty="0"/>
          </a:p>
        </p:txBody>
      </p:sp>
      <p:sp>
        <p:nvSpPr>
          <p:cNvPr id="5" name="Text 1"/>
          <p:cNvSpPr/>
          <p:nvPr/>
        </p:nvSpPr>
        <p:spPr>
          <a:xfrm>
            <a:off x="1828800" y="897238"/>
            <a:ext cx="6400800" cy="242888"/>
          </a:xfrm>
          <a:prstGeom prst="rect">
            <a:avLst/>
          </a:prstGeom>
          <a:noFill/>
          <a:ln/>
        </p:spPr>
        <p:txBody>
          <a:bodyPr wrap="square" lIns="0" tIns="0" rIns="0" bIns="0" rtlCol="0" anchor="t">
            <a:spAutoFit/>
          </a:bodyPr>
          <a:lstStyle/>
          <a:p>
            <a:pPr algn="l" indent="0" marL="0">
              <a:buNone/>
            </a:pPr>
            <a:r>
              <a:rPr lang="en-US" sz="1500" dirty="0">
                <a:solidFill>
                  <a:srgbClr val="16A34A"/>
                </a:solidFill>
                <a:latin typeface="Inter Medium" pitchFamily="34" charset="0"/>
                <a:ea typeface="Inter Medium" pitchFamily="34" charset="-122"/>
                <a:cs typeface="Inter Medium" pitchFamily="34" charset="-120"/>
              </a:rPr>
              <a:t>Three families of allocation policies</a:t>
            </a:r>
            <a:endParaRPr lang="en-US" sz="1500" dirty="0"/>
          </a:p>
        </p:txBody>
      </p:sp>
      <p:sp>
        <p:nvSpPr>
          <p:cNvPr id="6" name="Text 2"/>
          <p:cNvSpPr/>
          <p:nvPr/>
        </p:nvSpPr>
        <p:spPr>
          <a:xfrm>
            <a:off x="1828800" y="1311576"/>
            <a:ext cx="6400800" cy="428625"/>
          </a:xfrm>
          <a:prstGeom prst="rect">
            <a:avLst/>
          </a:prstGeom>
          <a:noFill/>
          <a:ln/>
        </p:spPr>
        <p:txBody>
          <a:bodyPr wrap="square" lIns="0" tIns="0" rIns="0" bIns="0" rtlCol="0" anchor="t">
            <a:spAutoFit/>
          </a:bodyPr>
          <a:lstStyle/>
          <a:p>
            <a:pPr algn="l" indent="0" marL="0">
              <a:lnSpc>
                <a:spcPct val="120000"/>
              </a:lnSpc>
              <a:buNone/>
            </a:pPr>
            <a:r>
              <a:rPr lang="en-US" sz="1050" dirty="0">
                <a:solidFill>
                  <a:srgbClr val="404040"/>
                </a:solidFill>
                <a:latin typeface="Inter Medium" pitchFamily="34" charset="0"/>
                <a:ea typeface="Inter Medium" pitchFamily="34" charset="-122"/>
                <a:cs typeface="Inter Medium" pitchFamily="34" charset="-120"/>
              </a:rPr>
              <a:t>We categorize the compared algorithms into distinct families based on their information requirements and state management overhead.</a:t>
            </a:r>
            <a:endParaRPr lang="en-US" sz="1050" dirty="0"/>
          </a:p>
        </p:txBody>
      </p:sp>
      <p:sp>
        <p:nvSpPr>
          <p:cNvPr id="7" name="Text 3"/>
          <p:cNvSpPr/>
          <p:nvPr/>
        </p:nvSpPr>
        <p:spPr>
          <a:xfrm>
            <a:off x="1828800" y="1883076"/>
            <a:ext cx="960109" cy="301823"/>
          </a:xfrm>
          <a:prstGeom prst="rect">
            <a:avLst/>
          </a:prstGeom>
          <a:noFill/>
          <a:ln/>
        </p:spPr>
        <p:txBody>
          <a:bodyPr wrap="none" lIns="8509" tIns="102108" rIns="8509" bIns="102108" rtlCol="0" anchor="ctr">
            <a:spAutoFit/>
          </a:bodyPr>
          <a:lstStyle/>
          <a:p>
            <a:pPr algn="l" indent="0" marL="0">
              <a:buNone/>
            </a:pPr>
            <a:r>
              <a:rPr lang="en-US" sz="700" b="1" spc="1" kern="0" dirty="0">
                <a:solidFill>
                  <a:srgbClr val="16A34A"/>
                </a:solidFill>
                <a:latin typeface="Space Grotesk" pitchFamily="34" charset="0"/>
                <a:ea typeface="Space Grotesk" pitchFamily="34" charset="-122"/>
                <a:cs typeface="Space Grotesk" pitchFamily="34" charset="-120"/>
              </a:rPr>
              <a:t>FAMILY</a:t>
            </a:r>
            <a:endParaRPr lang="en-US" sz="700" dirty="0"/>
          </a:p>
        </p:txBody>
      </p:sp>
      <p:sp>
        <p:nvSpPr>
          <p:cNvPr id="8" name="Text 4"/>
          <p:cNvSpPr/>
          <p:nvPr/>
        </p:nvSpPr>
        <p:spPr>
          <a:xfrm>
            <a:off x="2788909" y="1883076"/>
            <a:ext cx="1280154" cy="301823"/>
          </a:xfrm>
          <a:prstGeom prst="rect">
            <a:avLst/>
          </a:prstGeom>
          <a:noFill/>
          <a:ln/>
        </p:spPr>
        <p:txBody>
          <a:bodyPr wrap="none" lIns="8509" tIns="102108" rIns="8509" bIns="102108" rtlCol="0" anchor="ctr">
            <a:spAutoFit/>
          </a:bodyPr>
          <a:lstStyle/>
          <a:p>
            <a:pPr algn="l" indent="0" marL="0">
              <a:buNone/>
            </a:pPr>
            <a:r>
              <a:rPr lang="en-US" sz="700" b="1" spc="1" kern="0" dirty="0">
                <a:solidFill>
                  <a:srgbClr val="16A34A"/>
                </a:solidFill>
                <a:latin typeface="Space Grotesk" pitchFamily="34" charset="0"/>
                <a:ea typeface="Space Grotesk" pitchFamily="34" charset="-122"/>
                <a:cs typeface="Space Grotesk" pitchFamily="34" charset="-120"/>
              </a:rPr>
              <a:t>POLICY</a:t>
            </a:r>
            <a:endParaRPr lang="en-US" sz="700" dirty="0"/>
          </a:p>
        </p:txBody>
      </p:sp>
      <p:sp>
        <p:nvSpPr>
          <p:cNvPr id="9" name="Text 5"/>
          <p:cNvSpPr/>
          <p:nvPr/>
        </p:nvSpPr>
        <p:spPr>
          <a:xfrm>
            <a:off x="4069063" y="1883076"/>
            <a:ext cx="2880382" cy="301823"/>
          </a:xfrm>
          <a:prstGeom prst="rect">
            <a:avLst/>
          </a:prstGeom>
          <a:noFill/>
          <a:ln/>
        </p:spPr>
        <p:txBody>
          <a:bodyPr wrap="square" lIns="8509" tIns="102108" rIns="8509" bIns="102108" rtlCol="0" anchor="ctr">
            <a:spAutoFit/>
          </a:bodyPr>
          <a:lstStyle/>
          <a:p>
            <a:pPr algn="l" indent="0" marL="0">
              <a:buNone/>
            </a:pPr>
            <a:r>
              <a:rPr lang="en-US" sz="700" b="1" spc="1" kern="0" dirty="0">
                <a:solidFill>
                  <a:srgbClr val="16A34A"/>
                </a:solidFill>
                <a:latin typeface="Space Grotesk" pitchFamily="34" charset="0"/>
                <a:ea typeface="Space Grotesk" pitchFamily="34" charset="-122"/>
                <a:cs typeface="Space Grotesk" pitchFamily="34" charset="-120"/>
              </a:rPr>
              <a:t>MECHANISM</a:t>
            </a:r>
            <a:endParaRPr lang="en-US" sz="700" dirty="0"/>
          </a:p>
        </p:txBody>
      </p:sp>
      <p:sp>
        <p:nvSpPr>
          <p:cNvPr id="10" name="Text 6"/>
          <p:cNvSpPr/>
          <p:nvPr/>
        </p:nvSpPr>
        <p:spPr>
          <a:xfrm>
            <a:off x="6949446" y="1883076"/>
            <a:ext cx="1280154" cy="301823"/>
          </a:xfrm>
          <a:prstGeom prst="rect">
            <a:avLst/>
          </a:prstGeom>
          <a:noFill/>
          <a:ln/>
        </p:spPr>
        <p:txBody>
          <a:bodyPr wrap="none" lIns="8509" tIns="102108" rIns="8509" bIns="102108" rtlCol="0" anchor="ctr">
            <a:spAutoFit/>
          </a:bodyPr>
          <a:lstStyle/>
          <a:p>
            <a:pPr algn="l" indent="0" marL="0">
              <a:buNone/>
            </a:pPr>
            <a:r>
              <a:rPr lang="en-US" sz="700" b="1" spc="1" kern="0" dirty="0">
                <a:solidFill>
                  <a:srgbClr val="16A34A"/>
                </a:solidFill>
                <a:latin typeface="Space Grotesk" pitchFamily="34" charset="0"/>
                <a:ea typeface="Space Grotesk" pitchFamily="34" charset="-122"/>
                <a:cs typeface="Space Grotesk" pitchFamily="34" charset="-120"/>
              </a:rPr>
              <a:t>COST PROFILE</a:t>
            </a:r>
            <a:endParaRPr lang="en-US" sz="700" dirty="0"/>
          </a:p>
        </p:txBody>
      </p:sp>
      <p:sp>
        <p:nvSpPr>
          <p:cNvPr id="11" name="Text 7"/>
          <p:cNvSpPr/>
          <p:nvPr/>
        </p:nvSpPr>
        <p:spPr>
          <a:xfrm>
            <a:off x="1828800" y="2184899"/>
            <a:ext cx="960109" cy="342900"/>
          </a:xfrm>
          <a:prstGeom prst="rect">
            <a:avLst/>
          </a:prstGeom>
          <a:noFill/>
          <a:ln/>
        </p:spPr>
        <p:txBody>
          <a:bodyPr wrap="none" lIns="8509" tIns="102108" rIns="8509" bIns="102108" rtlCol="0" anchor="ctr">
            <a:spAutoFit/>
          </a:bodyPr>
          <a:lstStyle/>
          <a:p>
            <a:pPr algn="l" indent="0" marL="0">
              <a:buNone/>
            </a:pPr>
            <a:r>
              <a:rPr lang="en-US" sz="900" b="1" dirty="0">
                <a:solidFill>
                  <a:srgbClr val="171717"/>
                </a:solidFill>
                <a:latin typeface="Inter Bold" pitchFamily="34" charset="0"/>
                <a:ea typeface="Inter Bold" pitchFamily="34" charset="-122"/>
                <a:cs typeface="Inter Bold" pitchFamily="34" charset="-120"/>
              </a:rPr>
              <a:t>Stateless</a:t>
            </a:r>
            <a:endParaRPr lang="en-US" sz="900" dirty="0"/>
          </a:p>
        </p:txBody>
      </p:sp>
      <p:sp>
        <p:nvSpPr>
          <p:cNvPr id="12" name="Text 8"/>
          <p:cNvSpPr/>
          <p:nvPr/>
        </p:nvSpPr>
        <p:spPr>
          <a:xfrm>
            <a:off x="2788909" y="2184899"/>
            <a:ext cx="1280154" cy="342900"/>
          </a:xfrm>
          <a:prstGeom prst="rect">
            <a:avLst/>
          </a:prstGeom>
          <a:noFill/>
          <a:ln/>
        </p:spPr>
        <p:txBody>
          <a:bodyPr wrap="none" lIns="8509" tIns="102108" rIns="8509" bIns="102108" rtlCol="0" anchor="ctr">
            <a:spAutoFit/>
          </a:bodyPr>
          <a:lstStyle/>
          <a:p>
            <a:pPr algn="l" indent="0" marL="0">
              <a:buNone/>
            </a:pPr>
            <a:r>
              <a:rPr lang="en-US" sz="900" b="1" dirty="0">
                <a:solidFill>
                  <a:srgbClr val="171717"/>
                </a:solidFill>
                <a:latin typeface="Inter Bold" pitchFamily="34" charset="0"/>
                <a:ea typeface="Inter Bold" pitchFamily="34" charset="-122"/>
                <a:cs typeface="Inter Bold" pitchFamily="34" charset="-120"/>
              </a:rPr>
              <a:t>Random</a:t>
            </a:r>
            <a:endParaRPr lang="en-US" sz="900" dirty="0"/>
          </a:p>
        </p:txBody>
      </p:sp>
      <p:sp>
        <p:nvSpPr>
          <p:cNvPr id="13" name="Text 9"/>
          <p:cNvSpPr/>
          <p:nvPr/>
        </p:nvSpPr>
        <p:spPr>
          <a:xfrm>
            <a:off x="4069063" y="2184899"/>
            <a:ext cx="2880382" cy="342900"/>
          </a:xfrm>
          <a:prstGeom prst="rect">
            <a:avLst/>
          </a:prstGeom>
          <a:noFill/>
          <a:ln/>
        </p:spPr>
        <p:txBody>
          <a:bodyPr wrap="square" lIns="8509" tIns="102108" rIns="8509" bIns="102108" rtlCol="0" anchor="ctr">
            <a:spAutoFit/>
          </a:bodyPr>
          <a:lstStyle/>
          <a:p>
            <a:pPr algn="l" indent="0" marL="0">
              <a:buNone/>
            </a:pPr>
            <a:r>
              <a:rPr lang="en-US" sz="950" dirty="0">
                <a:solidFill>
                  <a:srgbClr val="404040"/>
                </a:solidFill>
                <a:latin typeface="Inter Medium" pitchFamily="34" charset="0"/>
                <a:ea typeface="Inter Medium" pitchFamily="34" charset="-122"/>
                <a:cs typeface="Inter Medium" pitchFamily="34" charset="-120"/>
              </a:rPr>
              <a:t>Selects exactly one bin at random</a:t>
            </a:r>
            <a:endParaRPr lang="en-US" sz="950" dirty="0"/>
          </a:p>
        </p:txBody>
      </p:sp>
      <p:sp>
        <p:nvSpPr>
          <p:cNvPr id="14" name="Text 10"/>
          <p:cNvSpPr/>
          <p:nvPr/>
        </p:nvSpPr>
        <p:spPr>
          <a:xfrm>
            <a:off x="6949446" y="2184899"/>
            <a:ext cx="1280154" cy="342900"/>
          </a:xfrm>
          <a:prstGeom prst="rect">
            <a:avLst/>
          </a:prstGeom>
          <a:noFill/>
          <a:ln/>
        </p:spPr>
        <p:txBody>
          <a:bodyPr wrap="none" lIns="8509" tIns="102108" rIns="8509" bIns="102108" rtlCol="0" anchor="ctr">
            <a:spAutoFit/>
          </a:bodyPr>
          <a:lstStyle/>
          <a:p>
            <a:pPr algn="l" indent="0" marL="0">
              <a:buNone/>
            </a:pPr>
            <a:r>
              <a:rPr lang="en-US" sz="950" dirty="0">
                <a:solidFill>
                  <a:srgbClr val="16A34A"/>
                </a:solidFill>
                <a:latin typeface="Space Grotesk" pitchFamily="34" charset="0"/>
                <a:ea typeface="Space Grotesk" pitchFamily="34" charset="-122"/>
                <a:cs typeface="Space Grotesk" pitchFamily="34" charset="-120"/>
              </a:rPr>
              <a:t>Very Low</a:t>
            </a:r>
            <a:endParaRPr lang="en-US" sz="950" dirty="0"/>
          </a:p>
        </p:txBody>
      </p:sp>
      <p:sp>
        <p:nvSpPr>
          <p:cNvPr id="15" name="Text 11"/>
          <p:cNvSpPr/>
          <p:nvPr/>
        </p:nvSpPr>
        <p:spPr>
          <a:xfrm>
            <a:off x="1828800" y="2527799"/>
            <a:ext cx="960109" cy="342900"/>
          </a:xfrm>
          <a:prstGeom prst="rect">
            <a:avLst/>
          </a:prstGeom>
          <a:noFill/>
          <a:ln/>
        </p:spPr>
        <p:txBody>
          <a:bodyPr wrap="none" lIns="8509" tIns="102108" rIns="8509" bIns="102108" rtlCol="0" anchor="ctr">
            <a:spAutoFit/>
          </a:bodyPr>
          <a:lstStyle/>
          <a:p>
            <a:pPr algn="l" indent="0" marL="0">
              <a:buNone/>
            </a:pPr>
            <a:r>
              <a:rPr lang="en-US" sz="900" b="1" dirty="0">
                <a:solidFill>
                  <a:srgbClr val="171717"/>
                </a:solidFill>
                <a:latin typeface="Inter Bold" pitchFamily="34" charset="0"/>
                <a:ea typeface="Inter Bold" pitchFamily="34" charset="-122"/>
                <a:cs typeface="Inter Bold" pitchFamily="34" charset="-120"/>
              </a:rPr>
              <a:t>Stateless</a:t>
            </a:r>
            <a:endParaRPr lang="en-US" sz="900" dirty="0"/>
          </a:p>
        </p:txBody>
      </p:sp>
      <p:sp>
        <p:nvSpPr>
          <p:cNvPr id="16" name="Text 12"/>
          <p:cNvSpPr/>
          <p:nvPr/>
        </p:nvSpPr>
        <p:spPr>
          <a:xfrm>
            <a:off x="2788909" y="2527799"/>
            <a:ext cx="1280154" cy="342900"/>
          </a:xfrm>
          <a:prstGeom prst="rect">
            <a:avLst/>
          </a:prstGeom>
          <a:noFill/>
          <a:ln/>
        </p:spPr>
        <p:txBody>
          <a:bodyPr wrap="none" lIns="8509" tIns="102108" rIns="8509" bIns="102108" rtlCol="0" anchor="ctr">
            <a:spAutoFit/>
          </a:bodyPr>
          <a:lstStyle/>
          <a:p>
            <a:pPr algn="l" indent="0" marL="0">
              <a:buNone/>
            </a:pPr>
            <a:r>
              <a:rPr lang="en-US" sz="900" b="1" dirty="0">
                <a:solidFill>
                  <a:srgbClr val="171717"/>
                </a:solidFill>
                <a:latin typeface="Inter Bold" pitchFamily="34" charset="0"/>
                <a:ea typeface="Inter Bold" pitchFamily="34" charset="-122"/>
                <a:cs typeface="Inter Bold" pitchFamily="34" charset="-120"/>
              </a:rPr>
              <a:t>Power-k</a:t>
            </a:r>
            <a:endParaRPr lang="en-US" sz="900" dirty="0"/>
          </a:p>
        </p:txBody>
      </p:sp>
      <p:sp>
        <p:nvSpPr>
          <p:cNvPr id="17" name="Text 13"/>
          <p:cNvSpPr/>
          <p:nvPr/>
        </p:nvSpPr>
        <p:spPr>
          <a:xfrm>
            <a:off x="4069063" y="2527799"/>
            <a:ext cx="2880382" cy="342900"/>
          </a:xfrm>
          <a:prstGeom prst="rect">
            <a:avLst/>
          </a:prstGeom>
          <a:noFill/>
          <a:ln/>
        </p:spPr>
        <p:txBody>
          <a:bodyPr wrap="square" lIns="8509" tIns="102108" rIns="8509" bIns="102108" rtlCol="0" anchor="ctr">
            <a:spAutoFit/>
          </a:bodyPr>
          <a:lstStyle/>
          <a:p>
            <a:pPr algn="l" indent="0" marL="0">
              <a:buNone/>
            </a:pPr>
            <a:r>
              <a:rPr lang="en-US" sz="950" dirty="0">
                <a:solidFill>
                  <a:srgbClr val="404040"/>
                </a:solidFill>
                <a:latin typeface="Inter Medium" pitchFamily="34" charset="0"/>
                <a:ea typeface="Inter Medium" pitchFamily="34" charset="-122"/>
                <a:cs typeface="Inter Medium" pitchFamily="34" charset="-120"/>
              </a:rPr>
              <a:t>Samples k bins, picks least loaded</a:t>
            </a:r>
            <a:endParaRPr lang="en-US" sz="950" dirty="0"/>
          </a:p>
        </p:txBody>
      </p:sp>
      <p:sp>
        <p:nvSpPr>
          <p:cNvPr id="18" name="Text 14"/>
          <p:cNvSpPr/>
          <p:nvPr/>
        </p:nvSpPr>
        <p:spPr>
          <a:xfrm>
            <a:off x="6949446" y="2527799"/>
            <a:ext cx="1280154" cy="342900"/>
          </a:xfrm>
          <a:prstGeom prst="rect">
            <a:avLst/>
          </a:prstGeom>
          <a:noFill/>
          <a:ln/>
        </p:spPr>
        <p:txBody>
          <a:bodyPr wrap="none" lIns="8509" tIns="102108" rIns="8509" bIns="102108" rtlCol="0" anchor="ctr">
            <a:spAutoFit/>
          </a:bodyPr>
          <a:lstStyle/>
          <a:p>
            <a:pPr algn="l" indent="0" marL="0">
              <a:buNone/>
            </a:pPr>
            <a:r>
              <a:rPr lang="en-US" sz="950" dirty="0">
                <a:solidFill>
                  <a:srgbClr val="16A34A"/>
                </a:solidFill>
                <a:latin typeface="Space Grotesk" pitchFamily="34" charset="0"/>
                <a:ea typeface="Space Grotesk" pitchFamily="34" charset="-122"/>
                <a:cs typeface="Space Grotesk" pitchFamily="34" charset="-120"/>
              </a:rPr>
              <a:t>Linear w/ k</a:t>
            </a:r>
            <a:endParaRPr lang="en-US" sz="950" dirty="0"/>
          </a:p>
        </p:txBody>
      </p:sp>
      <p:sp>
        <p:nvSpPr>
          <p:cNvPr id="19" name="Text 15"/>
          <p:cNvSpPr/>
          <p:nvPr/>
        </p:nvSpPr>
        <p:spPr>
          <a:xfrm>
            <a:off x="1828800" y="2870699"/>
            <a:ext cx="960109" cy="342900"/>
          </a:xfrm>
          <a:prstGeom prst="rect">
            <a:avLst/>
          </a:prstGeom>
          <a:noFill/>
          <a:ln/>
        </p:spPr>
        <p:txBody>
          <a:bodyPr wrap="none" lIns="8509" tIns="102108" rIns="8509" bIns="102108" rtlCol="0" anchor="ctr">
            <a:spAutoFit/>
          </a:bodyPr>
          <a:lstStyle/>
          <a:p>
            <a:pPr algn="l" indent="0" marL="0">
              <a:buNone/>
            </a:pPr>
            <a:r>
              <a:rPr lang="en-US" sz="900" b="1" dirty="0">
                <a:solidFill>
                  <a:srgbClr val="171717"/>
                </a:solidFill>
                <a:latin typeface="Inter Bold" pitchFamily="34" charset="0"/>
                <a:ea typeface="Inter Bold" pitchFamily="34" charset="-122"/>
                <a:cs typeface="Inter Bold" pitchFamily="34" charset="-120"/>
              </a:rPr>
              <a:t>Stateless</a:t>
            </a:r>
            <a:endParaRPr lang="en-US" sz="900" dirty="0"/>
          </a:p>
        </p:txBody>
      </p:sp>
      <p:sp>
        <p:nvSpPr>
          <p:cNvPr id="20" name="Text 16"/>
          <p:cNvSpPr/>
          <p:nvPr/>
        </p:nvSpPr>
        <p:spPr>
          <a:xfrm>
            <a:off x="2788909" y="2870699"/>
            <a:ext cx="1280154" cy="342900"/>
          </a:xfrm>
          <a:prstGeom prst="rect">
            <a:avLst/>
          </a:prstGeom>
          <a:noFill/>
          <a:ln/>
        </p:spPr>
        <p:txBody>
          <a:bodyPr wrap="none" lIns="8509" tIns="102108" rIns="8509" bIns="102108" rtlCol="0" anchor="ctr">
            <a:spAutoFit/>
          </a:bodyPr>
          <a:lstStyle/>
          <a:p>
            <a:pPr algn="l" indent="0" marL="0">
              <a:buNone/>
            </a:pPr>
            <a:r>
              <a:rPr lang="en-US" sz="900" b="1" dirty="0">
                <a:solidFill>
                  <a:srgbClr val="171717"/>
                </a:solidFill>
                <a:latin typeface="Inter Bold" pitchFamily="34" charset="0"/>
                <a:ea typeface="Inter Bold" pitchFamily="34" charset="-122"/>
                <a:cs typeface="Inter Bold" pitchFamily="34" charset="-120"/>
              </a:rPr>
              <a:t>Absolute Min</a:t>
            </a:r>
            <a:endParaRPr lang="en-US" sz="900" dirty="0"/>
          </a:p>
        </p:txBody>
      </p:sp>
      <p:sp>
        <p:nvSpPr>
          <p:cNvPr id="21" name="Text 17"/>
          <p:cNvSpPr/>
          <p:nvPr/>
        </p:nvSpPr>
        <p:spPr>
          <a:xfrm>
            <a:off x="4069063" y="2870699"/>
            <a:ext cx="2880382" cy="342900"/>
          </a:xfrm>
          <a:prstGeom prst="rect">
            <a:avLst/>
          </a:prstGeom>
          <a:noFill/>
          <a:ln/>
        </p:spPr>
        <p:txBody>
          <a:bodyPr wrap="square" lIns="8509" tIns="102108" rIns="8509" bIns="102108" rtlCol="0" anchor="ctr">
            <a:spAutoFit/>
          </a:bodyPr>
          <a:lstStyle/>
          <a:p>
            <a:pPr algn="l" indent="0" marL="0">
              <a:buNone/>
            </a:pPr>
            <a:r>
              <a:rPr lang="en-US" sz="950" dirty="0">
                <a:solidFill>
                  <a:srgbClr val="404040"/>
                </a:solidFill>
                <a:latin typeface="Inter Medium" pitchFamily="34" charset="0"/>
                <a:ea typeface="Inter Medium" pitchFamily="34" charset="-122"/>
                <a:cs typeface="Inter Medium" pitchFamily="34" charset="-120"/>
              </a:rPr>
              <a:t>Scans all bins for global minimum</a:t>
            </a:r>
            <a:endParaRPr lang="en-US" sz="950" dirty="0"/>
          </a:p>
        </p:txBody>
      </p:sp>
      <p:sp>
        <p:nvSpPr>
          <p:cNvPr id="22" name="Text 18"/>
          <p:cNvSpPr/>
          <p:nvPr/>
        </p:nvSpPr>
        <p:spPr>
          <a:xfrm>
            <a:off x="6949446" y="2870699"/>
            <a:ext cx="1280154" cy="342900"/>
          </a:xfrm>
          <a:prstGeom prst="rect">
            <a:avLst/>
          </a:prstGeom>
          <a:noFill/>
          <a:ln/>
        </p:spPr>
        <p:txBody>
          <a:bodyPr wrap="none" lIns="8509" tIns="102108" rIns="8509" bIns="102108" rtlCol="0" anchor="ctr">
            <a:spAutoFit/>
          </a:bodyPr>
          <a:lstStyle/>
          <a:p>
            <a:pPr algn="l" indent="0" marL="0">
              <a:buNone/>
            </a:pPr>
            <a:r>
              <a:rPr lang="en-US" sz="950" dirty="0">
                <a:solidFill>
                  <a:srgbClr val="16A34A"/>
                </a:solidFill>
                <a:latin typeface="Space Grotesk" pitchFamily="34" charset="0"/>
                <a:ea typeface="Space Grotesk" pitchFamily="34" charset="-122"/>
                <a:cs typeface="Space Grotesk" pitchFamily="34" charset="-120"/>
              </a:rPr>
              <a:t>High Scan</a:t>
            </a:r>
            <a:endParaRPr lang="en-US" sz="950" dirty="0"/>
          </a:p>
        </p:txBody>
      </p:sp>
      <p:sp>
        <p:nvSpPr>
          <p:cNvPr id="23" name="Text 19"/>
          <p:cNvSpPr/>
          <p:nvPr/>
        </p:nvSpPr>
        <p:spPr>
          <a:xfrm>
            <a:off x="1828800" y="3213599"/>
            <a:ext cx="960109" cy="342900"/>
          </a:xfrm>
          <a:prstGeom prst="rect">
            <a:avLst/>
          </a:prstGeom>
          <a:noFill/>
          <a:ln/>
        </p:spPr>
        <p:txBody>
          <a:bodyPr wrap="none" lIns="8509" tIns="102108" rIns="8509" bIns="102108" rtlCol="0" anchor="ctr">
            <a:spAutoFit/>
          </a:bodyPr>
          <a:lstStyle/>
          <a:p>
            <a:pPr algn="l" indent="0" marL="0">
              <a:buNone/>
            </a:pPr>
            <a:r>
              <a:rPr lang="en-US" sz="900" b="1" dirty="0">
                <a:solidFill>
                  <a:srgbClr val="171717"/>
                </a:solidFill>
                <a:latin typeface="Inter Bold" pitchFamily="34" charset="0"/>
                <a:ea typeface="Inter Bold" pitchFamily="34" charset="-122"/>
                <a:cs typeface="Inter Bold" pitchFamily="34" charset="-120"/>
              </a:rPr>
              <a:t>Stateful</a:t>
            </a:r>
            <a:endParaRPr lang="en-US" sz="900" dirty="0"/>
          </a:p>
        </p:txBody>
      </p:sp>
      <p:sp>
        <p:nvSpPr>
          <p:cNvPr id="24" name="Text 20"/>
          <p:cNvSpPr/>
          <p:nvPr/>
        </p:nvSpPr>
        <p:spPr>
          <a:xfrm>
            <a:off x="2788909" y="3213599"/>
            <a:ext cx="1280154" cy="342900"/>
          </a:xfrm>
          <a:prstGeom prst="rect">
            <a:avLst/>
          </a:prstGeom>
          <a:noFill/>
          <a:ln/>
        </p:spPr>
        <p:txBody>
          <a:bodyPr wrap="none" lIns="8509" tIns="102108" rIns="8509" bIns="102108" rtlCol="0" anchor="ctr">
            <a:spAutoFit/>
          </a:bodyPr>
          <a:lstStyle/>
          <a:p>
            <a:pPr algn="l" indent="0" marL="0">
              <a:buNone/>
            </a:pPr>
            <a:r>
              <a:rPr lang="en-US" sz="900" b="1" dirty="0">
                <a:solidFill>
                  <a:srgbClr val="171717"/>
                </a:solidFill>
                <a:latin typeface="Inter Bold" pitchFamily="34" charset="0"/>
                <a:ea typeface="Inter Bold" pitchFamily="34" charset="-122"/>
                <a:cs typeface="Inter Bold" pitchFamily="34" charset="-120"/>
              </a:rPr>
              <a:t>Round-robin</a:t>
            </a:r>
            <a:endParaRPr lang="en-US" sz="900" dirty="0"/>
          </a:p>
        </p:txBody>
      </p:sp>
      <p:sp>
        <p:nvSpPr>
          <p:cNvPr id="25" name="Text 21"/>
          <p:cNvSpPr/>
          <p:nvPr/>
        </p:nvSpPr>
        <p:spPr>
          <a:xfrm>
            <a:off x="4069063" y="3213599"/>
            <a:ext cx="2880382" cy="342900"/>
          </a:xfrm>
          <a:prstGeom prst="rect">
            <a:avLst/>
          </a:prstGeom>
          <a:noFill/>
          <a:ln/>
        </p:spPr>
        <p:txBody>
          <a:bodyPr wrap="square" lIns="8509" tIns="102108" rIns="8509" bIns="102108" rtlCol="0" anchor="ctr">
            <a:spAutoFit/>
          </a:bodyPr>
          <a:lstStyle/>
          <a:p>
            <a:pPr algn="l" indent="0" marL="0">
              <a:buNone/>
            </a:pPr>
            <a:r>
              <a:rPr lang="en-US" sz="950" dirty="0">
                <a:solidFill>
                  <a:srgbClr val="404040"/>
                </a:solidFill>
                <a:latin typeface="Inter Medium" pitchFamily="34" charset="0"/>
                <a:ea typeface="Inter Medium" pitchFamily="34" charset="-122"/>
                <a:cs typeface="Inter Medium" pitchFamily="34" charset="-120"/>
              </a:rPr>
              <a:t>Uses a pointer to the next bin</a:t>
            </a:r>
            <a:endParaRPr lang="en-US" sz="950" dirty="0"/>
          </a:p>
        </p:txBody>
      </p:sp>
      <p:sp>
        <p:nvSpPr>
          <p:cNvPr id="26" name="Text 22"/>
          <p:cNvSpPr/>
          <p:nvPr/>
        </p:nvSpPr>
        <p:spPr>
          <a:xfrm>
            <a:off x="6949446" y="3213599"/>
            <a:ext cx="1280154" cy="342900"/>
          </a:xfrm>
          <a:prstGeom prst="rect">
            <a:avLst/>
          </a:prstGeom>
          <a:noFill/>
          <a:ln/>
        </p:spPr>
        <p:txBody>
          <a:bodyPr wrap="none" lIns="8509" tIns="102108" rIns="8509" bIns="102108" rtlCol="0" anchor="ctr">
            <a:spAutoFit/>
          </a:bodyPr>
          <a:lstStyle/>
          <a:p>
            <a:pPr algn="l" indent="0" marL="0">
              <a:buNone/>
            </a:pPr>
            <a:r>
              <a:rPr lang="en-US" sz="950" dirty="0">
                <a:solidFill>
                  <a:srgbClr val="16A34A"/>
                </a:solidFill>
                <a:latin typeface="Space Grotesk" pitchFamily="34" charset="0"/>
                <a:ea typeface="Space Grotesk" pitchFamily="34" charset="-122"/>
                <a:cs typeface="Space Grotesk" pitchFamily="34" charset="-120"/>
              </a:rPr>
              <a:t>Low State</a:t>
            </a:r>
            <a:endParaRPr lang="en-US" sz="950" dirty="0"/>
          </a:p>
        </p:txBody>
      </p:sp>
      <p:sp>
        <p:nvSpPr>
          <p:cNvPr id="27" name="Text 23"/>
          <p:cNvSpPr/>
          <p:nvPr/>
        </p:nvSpPr>
        <p:spPr>
          <a:xfrm>
            <a:off x="1828800" y="3556499"/>
            <a:ext cx="960109" cy="342900"/>
          </a:xfrm>
          <a:prstGeom prst="rect">
            <a:avLst/>
          </a:prstGeom>
          <a:noFill/>
          <a:ln/>
        </p:spPr>
        <p:txBody>
          <a:bodyPr wrap="none" lIns="8509" tIns="102108" rIns="8509" bIns="102108" rtlCol="0" anchor="ctr">
            <a:spAutoFit/>
          </a:bodyPr>
          <a:lstStyle/>
          <a:p>
            <a:pPr algn="l" indent="0" marL="0">
              <a:buNone/>
            </a:pPr>
            <a:r>
              <a:rPr lang="en-US" sz="900" b="1" dirty="0">
                <a:solidFill>
                  <a:srgbClr val="171717"/>
                </a:solidFill>
                <a:latin typeface="Inter Bold" pitchFamily="34" charset="0"/>
                <a:ea typeface="Inter Bold" pitchFamily="34" charset="-122"/>
                <a:cs typeface="Inter Bold" pitchFamily="34" charset="-120"/>
              </a:rPr>
              <a:t>Stateful</a:t>
            </a:r>
            <a:endParaRPr lang="en-US" sz="900" dirty="0"/>
          </a:p>
        </p:txBody>
      </p:sp>
      <p:sp>
        <p:nvSpPr>
          <p:cNvPr id="28" name="Text 24"/>
          <p:cNvSpPr/>
          <p:nvPr/>
        </p:nvSpPr>
        <p:spPr>
          <a:xfrm>
            <a:off x="2788909" y="3556499"/>
            <a:ext cx="1280154" cy="342900"/>
          </a:xfrm>
          <a:prstGeom prst="rect">
            <a:avLst/>
          </a:prstGeom>
          <a:noFill/>
          <a:ln/>
        </p:spPr>
        <p:txBody>
          <a:bodyPr wrap="none" lIns="8509" tIns="102108" rIns="8509" bIns="102108" rtlCol="0" anchor="ctr">
            <a:spAutoFit/>
          </a:bodyPr>
          <a:lstStyle/>
          <a:p>
            <a:pPr algn="l" indent="0" marL="0">
              <a:buNone/>
            </a:pPr>
            <a:r>
              <a:rPr lang="en-US" sz="900" b="1" dirty="0">
                <a:solidFill>
                  <a:srgbClr val="171717"/>
                </a:solidFill>
                <a:latin typeface="Inter Bold" pitchFamily="34" charset="0"/>
                <a:ea typeface="Inter Bold" pitchFamily="34" charset="-122"/>
                <a:cs typeface="Inter Bold" pitchFamily="34" charset="-120"/>
              </a:rPr>
              <a:t>Heap (s)</a:t>
            </a:r>
            <a:endParaRPr lang="en-US" sz="900" dirty="0"/>
          </a:p>
        </p:txBody>
      </p:sp>
      <p:sp>
        <p:nvSpPr>
          <p:cNvPr id="29" name="Text 25"/>
          <p:cNvSpPr/>
          <p:nvPr/>
        </p:nvSpPr>
        <p:spPr>
          <a:xfrm>
            <a:off x="4069063" y="3556499"/>
            <a:ext cx="2880382" cy="342900"/>
          </a:xfrm>
          <a:prstGeom prst="rect">
            <a:avLst/>
          </a:prstGeom>
          <a:noFill/>
          <a:ln/>
        </p:spPr>
        <p:txBody>
          <a:bodyPr wrap="square" lIns="8509" tIns="102108" rIns="8509" bIns="102108" rtlCol="0" anchor="ctr">
            <a:spAutoFit/>
          </a:bodyPr>
          <a:lstStyle/>
          <a:p>
            <a:pPr algn="l" indent="0" marL="0">
              <a:buNone/>
            </a:pPr>
            <a:r>
              <a:rPr lang="en-US" sz="950" dirty="0">
                <a:solidFill>
                  <a:srgbClr val="404040"/>
                </a:solidFill>
                <a:latin typeface="Inter Medium" pitchFamily="34" charset="0"/>
                <a:ea typeface="Inter Medium" pitchFamily="34" charset="-122"/>
                <a:cs typeface="Inter Medium" pitchFamily="34" charset="-120"/>
              </a:rPr>
              <a:t>Maintains top-s least loaded bins</a:t>
            </a:r>
            <a:endParaRPr lang="en-US" sz="950" dirty="0"/>
          </a:p>
        </p:txBody>
      </p:sp>
      <p:sp>
        <p:nvSpPr>
          <p:cNvPr id="30" name="Text 26"/>
          <p:cNvSpPr/>
          <p:nvPr/>
        </p:nvSpPr>
        <p:spPr>
          <a:xfrm>
            <a:off x="6949446" y="3556499"/>
            <a:ext cx="1280154" cy="342900"/>
          </a:xfrm>
          <a:prstGeom prst="rect">
            <a:avLst/>
          </a:prstGeom>
          <a:noFill/>
          <a:ln/>
        </p:spPr>
        <p:txBody>
          <a:bodyPr wrap="none" lIns="8509" tIns="102108" rIns="8509" bIns="102108" rtlCol="0" anchor="ctr">
            <a:spAutoFit/>
          </a:bodyPr>
          <a:lstStyle/>
          <a:p>
            <a:pPr algn="l" indent="0" marL="0">
              <a:buNone/>
            </a:pPr>
            <a:r>
              <a:rPr lang="en-US" sz="950" dirty="0">
                <a:solidFill>
                  <a:srgbClr val="16A34A"/>
                </a:solidFill>
                <a:latin typeface="Space Grotesk" pitchFamily="34" charset="0"/>
                <a:ea typeface="Space Grotesk" pitchFamily="34" charset="-122"/>
                <a:cs typeface="Space Grotesk" pitchFamily="34" charset="-120"/>
              </a:rPr>
              <a:t>State + Update</a:t>
            </a:r>
            <a:endParaRPr lang="en-US" sz="950" dirty="0"/>
          </a:p>
        </p:txBody>
      </p:sp>
      <p:sp>
        <p:nvSpPr>
          <p:cNvPr id="31" name="Text 27"/>
          <p:cNvSpPr/>
          <p:nvPr/>
        </p:nvSpPr>
        <p:spPr>
          <a:xfrm>
            <a:off x="2043113" y="4145859"/>
            <a:ext cx="6186488" cy="164306"/>
          </a:xfrm>
          <a:prstGeom prst="rect">
            <a:avLst/>
          </a:prstGeom>
          <a:noFill/>
          <a:ln/>
        </p:spPr>
        <p:txBody>
          <a:bodyPr wrap="square" lIns="0" tIns="0" rIns="0" bIns="0" rtlCol="0" anchor="t">
            <a:spAutoFit/>
          </a:bodyPr>
          <a:lstStyle/>
          <a:p>
            <a:pPr algn="l" indent="0" marL="0">
              <a:buNone/>
            </a:pPr>
            <a:r>
              <a:rPr lang="en-US" sz="900" b="1" spc="1" kern="0" dirty="0">
                <a:solidFill>
                  <a:srgbClr val="16A34A"/>
                </a:solidFill>
                <a:latin typeface="Space Grotesk" pitchFamily="34" charset="0"/>
                <a:ea typeface="Space Grotesk" pitchFamily="34" charset="-122"/>
                <a:cs typeface="Space Grotesk" pitchFamily="34" charset="-120"/>
              </a:rPr>
              <a:t>COMPARISON</a:t>
            </a:r>
            <a:endParaRPr lang="en-US" sz="900" dirty="0"/>
          </a:p>
        </p:txBody>
      </p:sp>
      <p:sp>
        <p:nvSpPr>
          <p:cNvPr id="32" name="Text 28"/>
          <p:cNvSpPr/>
          <p:nvPr/>
        </p:nvSpPr>
        <p:spPr>
          <a:xfrm>
            <a:off x="2043113" y="4338740"/>
            <a:ext cx="6186488" cy="378619"/>
          </a:xfrm>
          <a:prstGeom prst="rect">
            <a:avLst/>
          </a:prstGeom>
          <a:noFill/>
          <a:ln/>
        </p:spPr>
        <p:txBody>
          <a:bodyPr wrap="square" lIns="0" tIns="0" rIns="0" bIns="0" rtlCol="0" anchor="t">
            <a:spAutoFit/>
          </a:bodyPr>
          <a:lstStyle/>
          <a:p>
            <a:pPr algn="l" indent="0" marL="0">
              <a:buNone/>
            </a:pPr>
            <a:r>
              <a:rPr lang="en-US" sz="1150" dirty="0">
                <a:solidFill>
                  <a:srgbClr val="171717"/>
                </a:solidFill>
                <a:latin typeface="Inter Medium" pitchFamily="34" charset="0"/>
                <a:ea typeface="Inter Medium" pitchFamily="34" charset="-122"/>
                <a:cs typeface="Inter Medium" pitchFamily="34" charset="-120"/>
              </a:rPr>
              <a:t>The core trade-off is between stateless sampling, maintained state, and full global knowledge.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828800" y="428625"/>
            <a:ext cx="2868913" cy="1037239"/>
          </a:xfrm>
          <a:prstGeom prst="rect">
            <a:avLst/>
          </a:prstGeom>
          <a:noFill/>
          <a:ln/>
        </p:spPr>
        <p:txBody>
          <a:bodyPr wrap="square" lIns="0" tIns="0" rIns="0" bIns="0" rtlCol="0" anchor="t">
            <a:spAutoFit/>
          </a:bodyPr>
          <a:lstStyle/>
          <a:p>
            <a:pPr algn="l" indent="0" marL="0">
              <a:lnSpc>
                <a:spcPct val="88000"/>
              </a:lnSpc>
              <a:buNone/>
            </a:pPr>
            <a:r>
              <a:rPr lang="en-US" sz="2250" b="1" dirty="0">
                <a:solidFill>
                  <a:srgbClr val="171717"/>
                </a:solidFill>
                <a:latin typeface="Inter Bold" pitchFamily="34" charset="0"/>
                <a:ea typeface="Inter Bold" pitchFamily="34" charset="-122"/>
                <a:cs typeface="Inter Bold" pitchFamily="34" charset="-120"/>
              </a:rPr>
              <a:t>The "Power of Two Choices" Baseline</a:t>
            </a:r>
            <a:endParaRPr lang="en-US" sz="2250" dirty="0"/>
          </a:p>
        </p:txBody>
      </p:sp>
      <p:sp>
        <p:nvSpPr>
          <p:cNvPr id="5" name="Text 1"/>
          <p:cNvSpPr/>
          <p:nvPr/>
        </p:nvSpPr>
        <p:spPr>
          <a:xfrm>
            <a:off x="1828800" y="1637314"/>
            <a:ext cx="2868913" cy="9144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404040"/>
                </a:solidFill>
                <a:latin typeface="Inter Medium" pitchFamily="34" charset="0"/>
                <a:ea typeface="Inter Medium" pitchFamily="34" charset="-122"/>
                <a:cs typeface="Inter Medium" pitchFamily="34" charset="-120"/>
              </a:rPr>
              <a:t>The theoretical "Power of Two Choices" suggests that even a tiny amount of choice dramatically improves load distribution.</a:t>
            </a:r>
            <a:endParaRPr lang="en-US" sz="1050" dirty="0"/>
          </a:p>
        </p:txBody>
      </p:sp>
      <p:sp>
        <p:nvSpPr>
          <p:cNvPr id="6" name="Text 2"/>
          <p:cNvSpPr/>
          <p:nvPr/>
        </p:nvSpPr>
        <p:spPr>
          <a:xfrm>
            <a:off x="1828800" y="2694589"/>
            <a:ext cx="2868913" cy="11430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404040"/>
                </a:solidFill>
                <a:latin typeface="Inter Medium" pitchFamily="34" charset="0"/>
                <a:ea typeface="Inter Medium" pitchFamily="34" charset="-122"/>
                <a:cs typeface="Inter Medium" pitchFamily="34" charset="-120"/>
              </a:rPr>
              <a:t>Our simulation confirms this: moving from Random (k=1) to Power-2 (k=2) results in a sharp reduction in maximum load, nearly closing the gap to the ideal global policy.</a:t>
            </a:r>
            <a:endParaRPr lang="en-US" sz="1050" dirty="0"/>
          </a:p>
        </p:txBody>
      </p:sp>
      <p:pic>
        <p:nvPicPr>
          <p:cNvPr id="7" name="Image 1" descr="preencoded.png">    </p:cNvPr>
          <p:cNvPicPr>
            <a:picLocks noChangeAspect="1"/>
          </p:cNvPicPr>
          <p:nvPr/>
        </p:nvPicPr>
        <p:blipFill>
          <a:blip r:embed="rId2"/>
          <a:stretch>
            <a:fillRect/>
          </a:stretch>
        </p:blipFill>
        <p:spPr>
          <a:xfrm>
            <a:off x="4842011" y="428625"/>
            <a:ext cx="4300538" cy="2871788"/>
          </a:xfrm>
          <a:prstGeom prst="rect">
            <a:avLst/>
          </a:prstGeom>
        </p:spPr>
      </p:pic>
      <p:sp>
        <p:nvSpPr>
          <p:cNvPr id="8" name="Shape 3"/>
          <p:cNvSpPr/>
          <p:nvPr/>
        </p:nvSpPr>
        <p:spPr>
          <a:xfrm>
            <a:off x="1828800" y="4261247"/>
            <a:ext cx="6615113" cy="453628"/>
          </a:xfrm>
          <a:prstGeom prst="rect">
            <a:avLst/>
          </a:prstGeom>
          <a:solidFill>
            <a:srgbClr val="000000">
              <a:alpha val="0"/>
            </a:srgbClr>
          </a:solidFill>
          <a:ln/>
        </p:spPr>
      </p:sp>
      <p:sp>
        <p:nvSpPr>
          <p:cNvPr id="9" name="Shape 4"/>
          <p:cNvSpPr/>
          <p:nvPr/>
        </p:nvSpPr>
        <p:spPr>
          <a:xfrm>
            <a:off x="1828800" y="4261247"/>
            <a:ext cx="42863" cy="453628"/>
          </a:xfrm>
          <a:prstGeom prst="rect">
            <a:avLst/>
          </a:prstGeom>
          <a:solidFill>
            <a:srgbClr val="16A34A"/>
          </a:solidFill>
          <a:ln/>
        </p:spPr>
      </p:sp>
      <p:sp>
        <p:nvSpPr>
          <p:cNvPr id="10" name="Text 5"/>
          <p:cNvSpPr/>
          <p:nvPr/>
        </p:nvSpPr>
        <p:spPr>
          <a:xfrm>
            <a:off x="2000250" y="4332684"/>
            <a:ext cx="6400800" cy="164306"/>
          </a:xfrm>
          <a:prstGeom prst="rect">
            <a:avLst/>
          </a:prstGeom>
          <a:noFill/>
          <a:ln/>
        </p:spPr>
        <p:txBody>
          <a:bodyPr wrap="square" lIns="0" tIns="0" rIns="0" bIns="0" rtlCol="0" anchor="t">
            <a:spAutoFit/>
          </a:bodyPr>
          <a:lstStyle/>
          <a:p>
            <a:pPr algn="l" indent="0" marL="0">
              <a:buNone/>
            </a:pPr>
            <a:r>
              <a:rPr lang="en-US" sz="900" b="1" spc="1" kern="0" dirty="0">
                <a:solidFill>
                  <a:srgbClr val="16A34A"/>
                </a:solidFill>
                <a:latin typeface="Space Grotesk" pitchFamily="34" charset="0"/>
                <a:ea typeface="Space Grotesk" pitchFamily="34" charset="-122"/>
                <a:cs typeface="Space Grotesk" pitchFamily="34" charset="-120"/>
              </a:rPr>
              <a:t>TAKEAWAY</a:t>
            </a:r>
            <a:endParaRPr lang="en-US" sz="900" dirty="0"/>
          </a:p>
        </p:txBody>
      </p:sp>
      <p:sp>
        <p:nvSpPr>
          <p:cNvPr id="11" name="Text 6"/>
          <p:cNvSpPr/>
          <p:nvPr/>
        </p:nvSpPr>
        <p:spPr>
          <a:xfrm>
            <a:off x="2000250" y="4525566"/>
            <a:ext cx="6400800" cy="189309"/>
          </a:xfrm>
          <a:prstGeom prst="rect">
            <a:avLst/>
          </a:prstGeom>
          <a:noFill/>
          <a:ln/>
        </p:spPr>
        <p:txBody>
          <a:bodyPr wrap="square" lIns="0" tIns="0" rIns="0" bIns="0" rtlCol="0" anchor="t">
            <a:spAutoFit/>
          </a:bodyPr>
          <a:lstStyle/>
          <a:p>
            <a:pPr algn="l" indent="0" marL="0">
              <a:buNone/>
            </a:pPr>
            <a:r>
              <a:rPr lang="en-US" sz="1150" dirty="0">
                <a:solidFill>
                  <a:srgbClr val="171717"/>
                </a:solidFill>
                <a:latin typeface="Inter Medium" pitchFamily="34" charset="0"/>
                <a:ea typeface="Inter Medium" pitchFamily="34" charset="-122"/>
                <a:cs typeface="Inter Medium" pitchFamily="34" charset="-120"/>
              </a:rPr>
              <a:t>Power-2 captures most of the load-balancing benefit with minimal decision cost.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828800" y="428625"/>
            <a:ext cx="2868913" cy="754335"/>
          </a:xfrm>
          <a:prstGeom prst="rect">
            <a:avLst/>
          </a:prstGeom>
          <a:noFill/>
          <a:ln/>
        </p:spPr>
        <p:txBody>
          <a:bodyPr wrap="square" lIns="0" tIns="0" rIns="0" bIns="0" rtlCol="0" anchor="t">
            <a:spAutoFit/>
          </a:bodyPr>
          <a:lstStyle/>
          <a:p>
            <a:pPr algn="l" indent="0" marL="0">
              <a:lnSpc>
                <a:spcPct val="88000"/>
              </a:lnSpc>
              <a:buNone/>
            </a:pPr>
            <a:r>
              <a:rPr lang="en-US" sz="2450" b="1" dirty="0">
                <a:solidFill>
                  <a:srgbClr val="171717"/>
                </a:solidFill>
                <a:latin typeface="Inter Bold" pitchFamily="34" charset="0"/>
                <a:ea typeface="Inter Bold" pitchFamily="34" charset="-122"/>
                <a:cs typeface="Inter Bold" pitchFamily="34" charset="-120"/>
              </a:rPr>
              <a:t>Diminishing Returns of k</a:t>
            </a:r>
            <a:endParaRPr lang="en-US" sz="2450" dirty="0"/>
          </a:p>
        </p:txBody>
      </p:sp>
      <p:sp>
        <p:nvSpPr>
          <p:cNvPr id="5" name="Text 1"/>
          <p:cNvSpPr/>
          <p:nvPr/>
        </p:nvSpPr>
        <p:spPr>
          <a:xfrm>
            <a:off x="1828800" y="1240110"/>
            <a:ext cx="2868913" cy="485775"/>
          </a:xfrm>
          <a:prstGeom prst="rect">
            <a:avLst/>
          </a:prstGeom>
          <a:noFill/>
          <a:ln/>
        </p:spPr>
        <p:txBody>
          <a:bodyPr wrap="square" lIns="0" tIns="0" rIns="0" bIns="0" rtlCol="0" anchor="t">
            <a:spAutoFit/>
          </a:bodyPr>
          <a:lstStyle/>
          <a:p>
            <a:pPr algn="l" indent="0" marL="0">
              <a:buNone/>
            </a:pPr>
            <a:r>
              <a:rPr lang="en-US" sz="1500" dirty="0">
                <a:solidFill>
                  <a:srgbClr val="16A34A"/>
                </a:solidFill>
                <a:latin typeface="Inter Medium" pitchFamily="34" charset="0"/>
                <a:ea typeface="Inter Medium" pitchFamily="34" charset="-122"/>
                <a:cs typeface="Inter Medium" pitchFamily="34" charset="-120"/>
              </a:rPr>
              <a:t>Sampling more than two bins is rarely justified</a:t>
            </a:r>
            <a:endParaRPr lang="en-US" sz="1500" dirty="0"/>
          </a:p>
        </p:txBody>
      </p:sp>
      <p:sp>
        <p:nvSpPr>
          <p:cNvPr id="6" name="Text 2"/>
          <p:cNvSpPr/>
          <p:nvPr/>
        </p:nvSpPr>
        <p:spPr>
          <a:xfrm>
            <a:off x="1828800" y="1940198"/>
            <a:ext cx="2868913" cy="6858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404040"/>
                </a:solidFill>
                <a:latin typeface="Inter Medium" pitchFamily="34" charset="0"/>
                <a:ea typeface="Inter Medium" pitchFamily="34" charset="-122"/>
                <a:cs typeface="Inter Medium" pitchFamily="34" charset="-120"/>
              </a:rPr>
              <a:t>While increasing the number of samples (k) continues to improve the load balance, the returns diminish rapidly after k=2.</a:t>
            </a:r>
            <a:endParaRPr lang="en-US" sz="1050" dirty="0"/>
          </a:p>
        </p:txBody>
      </p:sp>
      <p:sp>
        <p:nvSpPr>
          <p:cNvPr id="7" name="Text 3"/>
          <p:cNvSpPr/>
          <p:nvPr/>
        </p:nvSpPr>
        <p:spPr>
          <a:xfrm>
            <a:off x="1828800" y="2768873"/>
            <a:ext cx="2868913" cy="9144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404040"/>
                </a:solidFill>
                <a:latin typeface="Inter Medium" pitchFamily="34" charset="0"/>
                <a:ea typeface="Inter Medium" pitchFamily="34" charset="-122"/>
                <a:cs typeface="Inter Medium" pitchFamily="34" charset="-120"/>
              </a:rPr>
              <a:t>The data shows that the improvement from k=2 to k=4 is marginal compared to the linear increase in decision cost per ball.</a:t>
            </a:r>
            <a:endParaRPr lang="en-US" sz="1050" dirty="0"/>
          </a:p>
        </p:txBody>
      </p:sp>
      <p:pic>
        <p:nvPicPr>
          <p:cNvPr id="8" name="Image 1" descr="preencoded.png">    </p:cNvPr>
          <p:cNvPicPr>
            <a:picLocks noChangeAspect="1"/>
          </p:cNvPicPr>
          <p:nvPr/>
        </p:nvPicPr>
        <p:blipFill>
          <a:blip r:embed="rId2"/>
          <a:stretch>
            <a:fillRect/>
          </a:stretch>
        </p:blipFill>
        <p:spPr>
          <a:xfrm>
            <a:off x="4842011" y="428625"/>
            <a:ext cx="4300538" cy="2871788"/>
          </a:xfrm>
          <a:prstGeom prst="rect">
            <a:avLst/>
          </a:prstGeom>
        </p:spPr>
      </p:pic>
      <p:sp>
        <p:nvSpPr>
          <p:cNvPr id="9" name="Shape 4"/>
          <p:cNvSpPr/>
          <p:nvPr/>
        </p:nvSpPr>
        <p:spPr>
          <a:xfrm>
            <a:off x="1828800" y="4071938"/>
            <a:ext cx="6615113" cy="642938"/>
          </a:xfrm>
          <a:prstGeom prst="rect">
            <a:avLst/>
          </a:prstGeom>
          <a:solidFill>
            <a:srgbClr val="000000">
              <a:alpha val="0"/>
            </a:srgbClr>
          </a:solidFill>
          <a:ln/>
        </p:spPr>
      </p:sp>
      <p:sp>
        <p:nvSpPr>
          <p:cNvPr id="10" name="Shape 5"/>
          <p:cNvSpPr/>
          <p:nvPr/>
        </p:nvSpPr>
        <p:spPr>
          <a:xfrm>
            <a:off x="1828800" y="4071938"/>
            <a:ext cx="42863" cy="642938"/>
          </a:xfrm>
          <a:prstGeom prst="rect">
            <a:avLst/>
          </a:prstGeom>
          <a:solidFill>
            <a:srgbClr val="16A34A"/>
          </a:solidFill>
          <a:ln/>
        </p:spPr>
      </p:sp>
      <p:sp>
        <p:nvSpPr>
          <p:cNvPr id="11" name="Text 6"/>
          <p:cNvSpPr/>
          <p:nvPr/>
        </p:nvSpPr>
        <p:spPr>
          <a:xfrm>
            <a:off x="2000250" y="4143375"/>
            <a:ext cx="6400800" cy="164306"/>
          </a:xfrm>
          <a:prstGeom prst="rect">
            <a:avLst/>
          </a:prstGeom>
          <a:noFill/>
          <a:ln/>
        </p:spPr>
        <p:txBody>
          <a:bodyPr wrap="square" lIns="0" tIns="0" rIns="0" bIns="0" rtlCol="0" anchor="t">
            <a:spAutoFit/>
          </a:bodyPr>
          <a:lstStyle/>
          <a:p>
            <a:pPr algn="l" indent="0" marL="0">
              <a:buNone/>
            </a:pPr>
            <a:r>
              <a:rPr lang="en-US" sz="900" b="1" spc="1" kern="0" dirty="0">
                <a:solidFill>
                  <a:srgbClr val="16A34A"/>
                </a:solidFill>
                <a:latin typeface="Space Grotesk" pitchFamily="34" charset="0"/>
                <a:ea typeface="Space Grotesk" pitchFamily="34" charset="-122"/>
                <a:cs typeface="Space Grotesk" pitchFamily="34" charset="-120"/>
              </a:rPr>
              <a:t>TAKEAWAY</a:t>
            </a:r>
            <a:endParaRPr lang="en-US" sz="900" dirty="0"/>
          </a:p>
        </p:txBody>
      </p:sp>
      <p:sp>
        <p:nvSpPr>
          <p:cNvPr id="12" name="Text 7"/>
          <p:cNvSpPr/>
          <p:nvPr/>
        </p:nvSpPr>
        <p:spPr>
          <a:xfrm>
            <a:off x="2000250" y="4336256"/>
            <a:ext cx="6400800" cy="378619"/>
          </a:xfrm>
          <a:prstGeom prst="rect">
            <a:avLst/>
          </a:prstGeom>
          <a:noFill/>
          <a:ln/>
        </p:spPr>
        <p:txBody>
          <a:bodyPr wrap="square" lIns="0" tIns="0" rIns="0" bIns="0" rtlCol="0" anchor="t">
            <a:spAutoFit/>
          </a:bodyPr>
          <a:lstStyle/>
          <a:p>
            <a:pPr algn="l" indent="0" marL="0">
              <a:buNone/>
            </a:pPr>
            <a:r>
              <a:rPr lang="en-US" sz="1150" dirty="0">
                <a:solidFill>
                  <a:srgbClr val="171717"/>
                </a:solidFill>
                <a:latin typeface="Inter Medium" pitchFamily="34" charset="0"/>
                <a:ea typeface="Inter Medium" pitchFamily="34" charset="-122"/>
                <a:cs typeface="Inter Medium" pitchFamily="34" charset="-120"/>
              </a:rPr>
              <a:t>For most stateless applications, k=2 represents the optimal balance between performance and overhead.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828800" y="713231"/>
            <a:ext cx="2743200" cy="1234390"/>
          </a:xfrm>
          <a:prstGeom prst="rect">
            <a:avLst/>
          </a:prstGeom>
          <a:noFill/>
          <a:ln/>
        </p:spPr>
        <p:txBody>
          <a:bodyPr wrap="square" lIns="0" tIns="0" rIns="0" bIns="0" rtlCol="0" anchor="t">
            <a:spAutoFit/>
          </a:bodyPr>
          <a:lstStyle/>
          <a:p>
            <a:pPr algn="l" indent="0" marL="0">
              <a:lnSpc>
                <a:spcPct val="96000"/>
              </a:lnSpc>
              <a:buNone/>
            </a:pPr>
            <a:r>
              <a:rPr lang="en-US" sz="2450" b="1" dirty="0">
                <a:solidFill>
                  <a:srgbClr val="171717"/>
                </a:solidFill>
                <a:latin typeface="Inter Bold" pitchFamily="34" charset="0"/>
                <a:ea typeface="Inter Bold" pitchFamily="34" charset="-122"/>
                <a:cs typeface="Inter Bold" pitchFamily="34" charset="-120"/>
              </a:rPr>
              <a:t>Round-Robin: The Fragility of Simple State</a:t>
            </a:r>
            <a:endParaRPr lang="en-US" sz="2450" dirty="0"/>
          </a:p>
        </p:txBody>
      </p:sp>
      <p:sp>
        <p:nvSpPr>
          <p:cNvPr id="5" name="Text 1"/>
          <p:cNvSpPr/>
          <p:nvPr/>
        </p:nvSpPr>
        <p:spPr>
          <a:xfrm>
            <a:off x="1828800" y="2004771"/>
            <a:ext cx="2743200" cy="485775"/>
          </a:xfrm>
          <a:prstGeom prst="rect">
            <a:avLst/>
          </a:prstGeom>
          <a:noFill/>
          <a:ln/>
        </p:spPr>
        <p:txBody>
          <a:bodyPr wrap="square" lIns="0" tIns="0" rIns="0" bIns="0" rtlCol="0" anchor="t">
            <a:spAutoFit/>
          </a:bodyPr>
          <a:lstStyle/>
          <a:p>
            <a:pPr algn="l" indent="0" marL="0">
              <a:buNone/>
            </a:pPr>
            <a:r>
              <a:rPr lang="en-US" sz="1500" dirty="0">
                <a:solidFill>
                  <a:srgbClr val="16A34A"/>
                </a:solidFill>
                <a:latin typeface="Inter Medium" pitchFamily="34" charset="0"/>
                <a:ea typeface="Inter Medium" pitchFamily="34" charset="-122"/>
                <a:cs typeface="Inter Medium" pitchFamily="34" charset="-120"/>
              </a:rPr>
              <a:t>Balances counts, not actual load</a:t>
            </a:r>
            <a:endParaRPr lang="en-US" sz="1500" dirty="0"/>
          </a:p>
        </p:txBody>
      </p:sp>
      <p:sp>
        <p:nvSpPr>
          <p:cNvPr id="6" name="Text 2"/>
          <p:cNvSpPr/>
          <p:nvPr/>
        </p:nvSpPr>
        <p:spPr>
          <a:xfrm>
            <a:off x="1828800" y="2704858"/>
            <a:ext cx="2743200" cy="9144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404040"/>
                </a:solidFill>
                <a:latin typeface="Inter Medium" pitchFamily="34" charset="0"/>
                <a:ea typeface="Inter Medium" pitchFamily="34" charset="-122"/>
                <a:cs typeface="Inter Medium" pitchFamily="34" charset="-120"/>
              </a:rPr>
              <a:t>Round-robin is often favored for its simplicity and low state requirements. However, it is fundamentally a "blind" policy that assumes all balls are equal.</a:t>
            </a:r>
            <a:endParaRPr lang="en-US" sz="1050" dirty="0"/>
          </a:p>
        </p:txBody>
      </p:sp>
      <p:pic>
        <p:nvPicPr>
          <p:cNvPr id="7" name="Image 1" descr="preencoded.png">    </p:cNvPr>
          <p:cNvPicPr>
            <a:picLocks noChangeAspect="1"/>
          </p:cNvPicPr>
          <p:nvPr/>
        </p:nvPicPr>
        <p:blipFill>
          <a:blip r:embed="rId2"/>
          <a:stretch>
            <a:fillRect/>
          </a:stretch>
        </p:blipFill>
        <p:spPr>
          <a:xfrm>
            <a:off x="4479131" y="428625"/>
            <a:ext cx="4300538" cy="2871788"/>
          </a:xfrm>
          <a:prstGeom prst="rect">
            <a:avLst/>
          </a:prstGeom>
        </p:spPr>
      </p:pic>
      <p:sp>
        <p:nvSpPr>
          <p:cNvPr id="8" name="Shape 3"/>
          <p:cNvSpPr/>
          <p:nvPr/>
        </p:nvSpPr>
        <p:spPr>
          <a:xfrm>
            <a:off x="1828800" y="3905008"/>
            <a:ext cx="6557963" cy="614363"/>
          </a:xfrm>
          <a:prstGeom prst="rect">
            <a:avLst/>
          </a:prstGeom>
          <a:solidFill>
            <a:srgbClr val="000000">
              <a:alpha val="0"/>
            </a:srgbClr>
          </a:solidFill>
          <a:ln/>
        </p:spPr>
      </p:sp>
      <p:sp>
        <p:nvSpPr>
          <p:cNvPr id="9" name="Shape 4"/>
          <p:cNvSpPr/>
          <p:nvPr/>
        </p:nvSpPr>
        <p:spPr>
          <a:xfrm>
            <a:off x="1828800" y="3905008"/>
            <a:ext cx="42863" cy="614363"/>
          </a:xfrm>
          <a:prstGeom prst="rect">
            <a:avLst/>
          </a:prstGeom>
          <a:solidFill>
            <a:srgbClr val="16A34A"/>
          </a:solidFill>
          <a:ln/>
        </p:spPr>
      </p:sp>
      <p:sp>
        <p:nvSpPr>
          <p:cNvPr id="10" name="Text 5"/>
          <p:cNvSpPr/>
          <p:nvPr/>
        </p:nvSpPr>
        <p:spPr>
          <a:xfrm>
            <a:off x="1943100" y="3947871"/>
            <a:ext cx="6400800" cy="164306"/>
          </a:xfrm>
          <a:prstGeom prst="rect">
            <a:avLst/>
          </a:prstGeom>
          <a:noFill/>
          <a:ln/>
        </p:spPr>
        <p:txBody>
          <a:bodyPr wrap="square" lIns="0" tIns="0" rIns="0" bIns="0" rtlCol="0" anchor="t">
            <a:spAutoFit/>
          </a:bodyPr>
          <a:lstStyle/>
          <a:p>
            <a:pPr algn="l" indent="0" marL="0">
              <a:buNone/>
            </a:pPr>
            <a:r>
              <a:rPr lang="en-US" sz="900" b="1" spc="1" kern="0" dirty="0">
                <a:solidFill>
                  <a:srgbClr val="16A34A"/>
                </a:solidFill>
                <a:latin typeface="Space Grotesk" pitchFamily="34" charset="0"/>
                <a:ea typeface="Space Grotesk" pitchFamily="34" charset="-122"/>
                <a:cs typeface="Space Grotesk" pitchFamily="34" charset="-120"/>
              </a:rPr>
              <a:t>TAKEAWAY</a:t>
            </a:r>
            <a:endParaRPr lang="en-US" sz="900" dirty="0"/>
          </a:p>
        </p:txBody>
      </p:sp>
      <p:sp>
        <p:nvSpPr>
          <p:cNvPr id="11" name="Text 6"/>
          <p:cNvSpPr/>
          <p:nvPr/>
        </p:nvSpPr>
        <p:spPr>
          <a:xfrm>
            <a:off x="1943100" y="4140752"/>
            <a:ext cx="6400800" cy="378619"/>
          </a:xfrm>
          <a:prstGeom prst="rect">
            <a:avLst/>
          </a:prstGeom>
          <a:noFill/>
          <a:ln/>
        </p:spPr>
        <p:txBody>
          <a:bodyPr wrap="square" lIns="0" tIns="0" rIns="0" bIns="0" rtlCol="0" anchor="t">
            <a:spAutoFit/>
          </a:bodyPr>
          <a:lstStyle/>
          <a:p>
            <a:pPr algn="l" indent="0" marL="0">
              <a:buNone/>
            </a:pPr>
            <a:r>
              <a:rPr lang="en-US" sz="1150" dirty="0">
                <a:solidFill>
                  <a:srgbClr val="171717"/>
                </a:solidFill>
                <a:latin typeface="Inter Medium" pitchFamily="34" charset="0"/>
                <a:ea typeface="Inter Medium" pitchFamily="34" charset="-122"/>
                <a:cs typeface="Inter Medium" pitchFamily="34" charset="-120"/>
              </a:rPr>
              <a:t>Stateful policies must be load-aware to remain robust under variable workloads; simple sequencing is insufficient.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828800" y="428625"/>
            <a:ext cx="6858000" cy="411463"/>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171717"/>
                </a:solidFill>
                <a:latin typeface="Inter Bold" pitchFamily="34" charset="0"/>
                <a:ea typeface="Inter Bold" pitchFamily="34" charset="-122"/>
                <a:cs typeface="Inter Bold" pitchFamily="34" charset="-120"/>
              </a:rPr>
              <a:t>Heap: Approaching Global Quality</a:t>
            </a:r>
            <a:endParaRPr lang="en-US" sz="2450" dirty="0"/>
          </a:p>
        </p:txBody>
      </p:sp>
      <p:sp>
        <p:nvSpPr>
          <p:cNvPr id="5" name="Text 1"/>
          <p:cNvSpPr/>
          <p:nvPr/>
        </p:nvSpPr>
        <p:spPr>
          <a:xfrm>
            <a:off x="1828800" y="897238"/>
            <a:ext cx="6858000" cy="242888"/>
          </a:xfrm>
          <a:prstGeom prst="rect">
            <a:avLst/>
          </a:prstGeom>
          <a:noFill/>
          <a:ln/>
        </p:spPr>
        <p:txBody>
          <a:bodyPr wrap="square" lIns="0" tIns="0" rIns="0" bIns="0" rtlCol="0" anchor="t">
            <a:spAutoFit/>
          </a:bodyPr>
          <a:lstStyle/>
          <a:p>
            <a:pPr algn="l" indent="0" marL="0">
              <a:buNone/>
            </a:pPr>
            <a:r>
              <a:rPr lang="en-US" sz="1500" dirty="0">
                <a:solidFill>
                  <a:srgbClr val="16A34A"/>
                </a:solidFill>
                <a:latin typeface="Inter Medium" pitchFamily="34" charset="0"/>
                <a:ea typeface="Inter Medium" pitchFamily="34" charset="-122"/>
                <a:cs typeface="Inter Medium" pitchFamily="34" charset="-120"/>
              </a:rPr>
              <a:t>Maintained state replaces expensive scanning</a:t>
            </a:r>
            <a:endParaRPr lang="en-US" sz="1500" dirty="0"/>
          </a:p>
        </p:txBody>
      </p:sp>
      <p:sp>
        <p:nvSpPr>
          <p:cNvPr id="6" name="Text 2"/>
          <p:cNvSpPr/>
          <p:nvPr/>
        </p:nvSpPr>
        <p:spPr>
          <a:xfrm>
            <a:off x="1828800" y="1354438"/>
            <a:ext cx="2743200" cy="9144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404040"/>
                </a:solidFill>
                <a:latin typeface="Inter Medium" pitchFamily="34" charset="0"/>
                <a:ea typeface="Inter Medium" pitchFamily="34" charset="-122"/>
                <a:cs typeface="Inter Medium" pitchFamily="34" charset="-120"/>
              </a:rPr>
              <a:t>By maintaining a heap of bin loads, we can achieve near-global allocation quality without the high cost of scanning every bin for every ball.</a:t>
            </a:r>
            <a:endParaRPr lang="en-US" sz="1050" dirty="0"/>
          </a:p>
        </p:txBody>
      </p:sp>
      <p:sp>
        <p:nvSpPr>
          <p:cNvPr id="7" name="Text 3"/>
          <p:cNvSpPr/>
          <p:nvPr/>
        </p:nvSpPr>
        <p:spPr>
          <a:xfrm>
            <a:off x="1828800" y="2411713"/>
            <a:ext cx="2743200" cy="9144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404040"/>
                </a:solidFill>
                <a:latin typeface="Inter Medium" pitchFamily="34" charset="0"/>
                <a:ea typeface="Inter Medium" pitchFamily="34" charset="-122"/>
                <a:cs typeface="Inter Medium" pitchFamily="34" charset="-120"/>
              </a:rPr>
              <a:t>A full heap management strategy matches the quality of the "Absolute Minimum" policy but at a fraction of the per-ball decision cost.</a:t>
            </a:r>
            <a:endParaRPr lang="en-US" sz="1050" dirty="0"/>
          </a:p>
        </p:txBody>
      </p:sp>
      <p:pic>
        <p:nvPicPr>
          <p:cNvPr id="8" name="Image 1" descr="preencoded.png">    </p:cNvPr>
          <p:cNvPicPr>
            <a:picLocks noChangeAspect="1"/>
          </p:cNvPicPr>
          <p:nvPr/>
        </p:nvPicPr>
        <p:blipFill>
          <a:blip r:embed="rId2"/>
          <a:stretch>
            <a:fillRect/>
          </a:stretch>
        </p:blipFill>
        <p:spPr>
          <a:xfrm>
            <a:off x="4914900" y="1354438"/>
            <a:ext cx="4300538" cy="2871788"/>
          </a:xfrm>
          <a:prstGeom prst="rect">
            <a:avLst/>
          </a:prstGeom>
        </p:spPr>
      </p:pic>
      <p:sp>
        <p:nvSpPr>
          <p:cNvPr id="9" name="Text 4"/>
          <p:cNvSpPr/>
          <p:nvPr/>
        </p:nvSpPr>
        <p:spPr>
          <a:xfrm>
            <a:off x="2043113" y="4467327"/>
            <a:ext cx="6643688" cy="164306"/>
          </a:xfrm>
          <a:prstGeom prst="rect">
            <a:avLst/>
          </a:prstGeom>
          <a:noFill/>
          <a:ln/>
        </p:spPr>
        <p:txBody>
          <a:bodyPr wrap="square" lIns="0" tIns="0" rIns="0" bIns="0" rtlCol="0" anchor="t">
            <a:spAutoFit/>
          </a:bodyPr>
          <a:lstStyle/>
          <a:p>
            <a:pPr algn="l" indent="0" marL="0">
              <a:buNone/>
            </a:pPr>
            <a:r>
              <a:rPr lang="en-US" sz="900" b="1" spc="1" kern="0" dirty="0">
                <a:solidFill>
                  <a:srgbClr val="16A34A"/>
                </a:solidFill>
                <a:latin typeface="Space Grotesk" pitchFamily="34" charset="0"/>
                <a:ea typeface="Space Grotesk" pitchFamily="34" charset="-122"/>
                <a:cs typeface="Space Grotesk" pitchFamily="34" charset="-120"/>
              </a:rPr>
              <a:t>TAKEAWAY</a:t>
            </a:r>
            <a:endParaRPr lang="en-US" sz="900" dirty="0"/>
          </a:p>
        </p:txBody>
      </p:sp>
      <p:sp>
        <p:nvSpPr>
          <p:cNvPr id="10" name="Text 5"/>
          <p:cNvSpPr/>
          <p:nvPr/>
        </p:nvSpPr>
        <p:spPr>
          <a:xfrm>
            <a:off x="2043113" y="4660209"/>
            <a:ext cx="6643688" cy="378619"/>
          </a:xfrm>
          <a:prstGeom prst="rect">
            <a:avLst/>
          </a:prstGeom>
          <a:noFill/>
          <a:ln/>
        </p:spPr>
        <p:txBody>
          <a:bodyPr wrap="square" lIns="0" tIns="0" rIns="0" bIns="0" rtlCol="0" anchor="t">
            <a:spAutoFit/>
          </a:bodyPr>
          <a:lstStyle/>
          <a:p>
            <a:pPr algn="l" indent="0" marL="0">
              <a:buNone/>
            </a:pPr>
            <a:r>
              <a:rPr lang="en-US" sz="1150" dirty="0">
                <a:solidFill>
                  <a:srgbClr val="171717"/>
                </a:solidFill>
                <a:latin typeface="Inter Medium" pitchFamily="34" charset="0"/>
                <a:ea typeface="Inter Medium" pitchFamily="34" charset="-122"/>
                <a:cs typeface="Inter Medium" pitchFamily="34" charset="-120"/>
              </a:rPr>
              <a:t>Heap-based designs are the superior choice when the system can afford the memory and update overhead of maintaining state.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828800" y="428625"/>
            <a:ext cx="6858000" cy="411463"/>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171717"/>
                </a:solidFill>
                <a:latin typeface="Inter Bold" pitchFamily="34" charset="0"/>
                <a:ea typeface="Inter Bold" pitchFamily="34" charset="-122"/>
                <a:cs typeface="Inter Bold" pitchFamily="34" charset="-120"/>
              </a:rPr>
              <a:t>Robustness to Initial Imbalance</a:t>
            </a:r>
            <a:endParaRPr lang="en-US" sz="2450" dirty="0"/>
          </a:p>
        </p:txBody>
      </p:sp>
      <p:sp>
        <p:nvSpPr>
          <p:cNvPr id="5" name="Text 1"/>
          <p:cNvSpPr/>
          <p:nvPr/>
        </p:nvSpPr>
        <p:spPr>
          <a:xfrm>
            <a:off x="1828800" y="897238"/>
            <a:ext cx="6858000" cy="242888"/>
          </a:xfrm>
          <a:prstGeom prst="rect">
            <a:avLst/>
          </a:prstGeom>
          <a:noFill/>
          <a:ln/>
        </p:spPr>
        <p:txBody>
          <a:bodyPr wrap="square" lIns="0" tIns="0" rIns="0" bIns="0" rtlCol="0" anchor="t">
            <a:spAutoFit/>
          </a:bodyPr>
          <a:lstStyle/>
          <a:p>
            <a:pPr algn="l" indent="0" marL="0">
              <a:buNone/>
            </a:pPr>
            <a:r>
              <a:rPr lang="en-US" sz="1500" dirty="0">
                <a:solidFill>
                  <a:srgbClr val="16A34A"/>
                </a:solidFill>
                <a:latin typeface="Inter Medium" pitchFamily="34" charset="0"/>
                <a:ea typeface="Inter Medium" pitchFamily="34" charset="-122"/>
                <a:cs typeface="Inter Medium" pitchFamily="34" charset="-120"/>
              </a:rPr>
              <a:t>Systems in production rarely start from zero</a:t>
            </a:r>
            <a:endParaRPr lang="en-US" sz="1500" dirty="0"/>
          </a:p>
        </p:txBody>
      </p:sp>
      <p:sp>
        <p:nvSpPr>
          <p:cNvPr id="6" name="Text 2"/>
          <p:cNvSpPr/>
          <p:nvPr/>
        </p:nvSpPr>
        <p:spPr>
          <a:xfrm>
            <a:off x="1828800" y="1354438"/>
            <a:ext cx="2743200" cy="9144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404040"/>
                </a:solidFill>
                <a:latin typeface="Inter Medium" pitchFamily="34" charset="0"/>
                <a:ea typeface="Inter Medium" pitchFamily="34" charset="-122"/>
                <a:cs typeface="Inter Medium" pitchFamily="34" charset="-120"/>
              </a:rPr>
              <a:t>Real-world load balancers must handle bins that are already partially filled. Randomized sampling policies like Power-2 are inherently self-correcting.</a:t>
            </a:r>
            <a:endParaRPr lang="en-US" sz="1050" dirty="0"/>
          </a:p>
        </p:txBody>
      </p:sp>
      <p:sp>
        <p:nvSpPr>
          <p:cNvPr id="7" name="Text 3"/>
          <p:cNvSpPr/>
          <p:nvPr/>
        </p:nvSpPr>
        <p:spPr>
          <a:xfrm>
            <a:off x="1828800" y="2411713"/>
            <a:ext cx="2743200" cy="9144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404040"/>
                </a:solidFill>
                <a:latin typeface="Inter Medium" pitchFamily="34" charset="0"/>
                <a:ea typeface="Inter Medium" pitchFamily="34" charset="-122"/>
                <a:cs typeface="Inter Medium" pitchFamily="34" charset="-120"/>
              </a:rPr>
              <a:t>They naturally gravitate toward under-loaded bins, whereas sequence-based policies like Round-robin can preserve or even exacerbate initial imbalances.</a:t>
            </a:r>
            <a:endParaRPr lang="en-US" sz="1050" dirty="0"/>
          </a:p>
        </p:txBody>
      </p:sp>
      <p:pic>
        <p:nvPicPr>
          <p:cNvPr id="8" name="Image 1" descr="preencoded.png">    </p:cNvPr>
          <p:cNvPicPr>
            <a:picLocks noChangeAspect="1"/>
          </p:cNvPicPr>
          <p:nvPr/>
        </p:nvPicPr>
        <p:blipFill>
          <a:blip r:embed="rId2"/>
          <a:stretch>
            <a:fillRect/>
          </a:stretch>
        </p:blipFill>
        <p:spPr>
          <a:xfrm>
            <a:off x="4914900" y="1354438"/>
            <a:ext cx="4300538" cy="2871788"/>
          </a:xfrm>
          <a:prstGeom prst="rect">
            <a:avLst/>
          </a:prstGeom>
        </p:spPr>
      </p:pic>
      <p:sp>
        <p:nvSpPr>
          <p:cNvPr id="9" name="Text 4"/>
          <p:cNvSpPr/>
          <p:nvPr/>
        </p:nvSpPr>
        <p:spPr>
          <a:xfrm>
            <a:off x="2043113" y="4467327"/>
            <a:ext cx="6643688" cy="164306"/>
          </a:xfrm>
          <a:prstGeom prst="rect">
            <a:avLst/>
          </a:prstGeom>
          <a:noFill/>
          <a:ln/>
        </p:spPr>
        <p:txBody>
          <a:bodyPr wrap="square" lIns="0" tIns="0" rIns="0" bIns="0" rtlCol="0" anchor="t">
            <a:spAutoFit/>
          </a:bodyPr>
          <a:lstStyle/>
          <a:p>
            <a:pPr algn="l" indent="0" marL="0">
              <a:buNone/>
            </a:pPr>
            <a:r>
              <a:rPr lang="en-US" sz="900" b="1" spc="1" kern="0" dirty="0">
                <a:solidFill>
                  <a:srgbClr val="16A34A"/>
                </a:solidFill>
                <a:latin typeface="Space Grotesk" pitchFamily="34" charset="0"/>
                <a:ea typeface="Space Grotesk" pitchFamily="34" charset="-122"/>
                <a:cs typeface="Space Grotesk" pitchFamily="34" charset="-120"/>
              </a:rPr>
              <a:t>TAKEAWAY</a:t>
            </a:r>
            <a:endParaRPr lang="en-US" sz="900" dirty="0"/>
          </a:p>
        </p:txBody>
      </p:sp>
      <p:sp>
        <p:nvSpPr>
          <p:cNvPr id="10" name="Text 5"/>
          <p:cNvSpPr/>
          <p:nvPr/>
        </p:nvSpPr>
        <p:spPr>
          <a:xfrm>
            <a:off x="2043113" y="4660209"/>
            <a:ext cx="6643688" cy="378619"/>
          </a:xfrm>
          <a:prstGeom prst="rect">
            <a:avLst/>
          </a:prstGeom>
          <a:noFill/>
          <a:ln/>
        </p:spPr>
        <p:txBody>
          <a:bodyPr wrap="square" lIns="0" tIns="0" rIns="0" bIns="0" rtlCol="0" anchor="t">
            <a:spAutoFit/>
          </a:bodyPr>
          <a:lstStyle/>
          <a:p>
            <a:pPr algn="l" indent="0" marL="0">
              <a:buNone/>
            </a:pPr>
            <a:r>
              <a:rPr lang="en-US" sz="1150" dirty="0">
                <a:solidFill>
                  <a:srgbClr val="171717"/>
                </a:solidFill>
                <a:latin typeface="Inter Medium" pitchFamily="34" charset="0"/>
                <a:ea typeface="Inter Medium" pitchFamily="34" charset="-122"/>
                <a:cs typeface="Inter Medium" pitchFamily="34" charset="-120"/>
              </a:rPr>
              <a:t>Randomized sampling provides a level of robustness and self-healing critical for dynamic environments.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828800" y="428625"/>
            <a:ext cx="6858000" cy="411463"/>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171717"/>
                </a:solidFill>
                <a:latin typeface="Inter Bold" pitchFamily="34" charset="0"/>
                <a:ea typeface="Inter Bold" pitchFamily="34" charset="-122"/>
                <a:cs typeface="Inter Bold" pitchFamily="34" charset="-120"/>
              </a:rPr>
              <a:t>Final Performance Trade-off</a:t>
            </a:r>
            <a:endParaRPr lang="en-US" sz="2450" dirty="0"/>
          </a:p>
        </p:txBody>
      </p:sp>
      <p:sp>
        <p:nvSpPr>
          <p:cNvPr id="5" name="Text 1"/>
          <p:cNvSpPr/>
          <p:nvPr/>
        </p:nvSpPr>
        <p:spPr>
          <a:xfrm>
            <a:off x="1828800" y="897238"/>
            <a:ext cx="6858000" cy="242888"/>
          </a:xfrm>
          <a:prstGeom prst="rect">
            <a:avLst/>
          </a:prstGeom>
          <a:noFill/>
          <a:ln/>
        </p:spPr>
        <p:txBody>
          <a:bodyPr wrap="square" lIns="0" tIns="0" rIns="0" bIns="0" rtlCol="0" anchor="t">
            <a:spAutoFit/>
          </a:bodyPr>
          <a:lstStyle/>
          <a:p>
            <a:pPr algn="l" indent="0" marL="0">
              <a:buNone/>
            </a:pPr>
            <a:r>
              <a:rPr lang="en-US" sz="1500" dirty="0">
                <a:solidFill>
                  <a:srgbClr val="16A34A"/>
                </a:solidFill>
                <a:latin typeface="Inter Medium" pitchFamily="34" charset="0"/>
                <a:ea typeface="Inter Medium" pitchFamily="34" charset="-122"/>
                <a:cs typeface="Inter Medium" pitchFamily="34" charset="-120"/>
              </a:rPr>
              <a:t>Choosing the right strategy for complex environments</a:t>
            </a:r>
            <a:endParaRPr lang="en-US" sz="1500" dirty="0"/>
          </a:p>
        </p:txBody>
      </p:sp>
      <p:sp>
        <p:nvSpPr>
          <p:cNvPr id="6" name="Text 2"/>
          <p:cNvSpPr/>
          <p:nvPr/>
        </p:nvSpPr>
        <p:spPr>
          <a:xfrm>
            <a:off x="1828800" y="1354438"/>
            <a:ext cx="2743200" cy="9144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404040"/>
                </a:solidFill>
                <a:latin typeface="Inter Medium" pitchFamily="34" charset="0"/>
                <a:ea typeface="Inter Medium" pitchFamily="34" charset="-122"/>
                <a:cs typeface="Inter Medium" pitchFamily="34" charset="-120"/>
              </a:rPr>
              <a:t>When evaluating all policies under the most realistic conditions—weighted balls and initialized bins—a clear hierarchy emerges.</a:t>
            </a:r>
            <a:endParaRPr lang="en-US" sz="1050" dirty="0"/>
          </a:p>
        </p:txBody>
      </p:sp>
      <p:sp>
        <p:nvSpPr>
          <p:cNvPr id="7" name="Text 3"/>
          <p:cNvSpPr/>
          <p:nvPr/>
        </p:nvSpPr>
        <p:spPr>
          <a:xfrm>
            <a:off x="1828800" y="2411713"/>
            <a:ext cx="2743200" cy="914400"/>
          </a:xfrm>
          <a:prstGeom prst="rect">
            <a:avLst/>
          </a:prstGeom>
          <a:noFill/>
          <a:ln/>
        </p:spPr>
        <p:txBody>
          <a:bodyPr wrap="square" lIns="0" tIns="0" rIns="0" bIns="0" rtlCol="0" anchor="t">
            <a:spAutoFit/>
          </a:bodyPr>
          <a:lstStyle/>
          <a:p>
            <a:pPr algn="l" indent="0" marL="0">
              <a:lnSpc>
                <a:spcPct val="128000"/>
              </a:lnSpc>
              <a:buNone/>
            </a:pPr>
            <a:r>
              <a:rPr lang="en-US" sz="1050" dirty="0">
                <a:solidFill>
                  <a:srgbClr val="404040"/>
                </a:solidFill>
                <a:latin typeface="Inter Medium" pitchFamily="34" charset="0"/>
                <a:ea typeface="Inter Medium" pitchFamily="34" charset="-122"/>
                <a:cs typeface="Inter Medium" pitchFamily="34" charset="-120"/>
              </a:rPr>
              <a:t>Power-2 remains the strongest simple default, while Heap-based methods provide the highest quality for those who can manage the state.</a:t>
            </a:r>
            <a:endParaRPr lang="en-US" sz="1050" dirty="0"/>
          </a:p>
        </p:txBody>
      </p:sp>
      <p:pic>
        <p:nvPicPr>
          <p:cNvPr id="8" name="Image 1" descr="preencoded.png">    </p:cNvPr>
          <p:cNvPicPr>
            <a:picLocks noChangeAspect="1"/>
          </p:cNvPicPr>
          <p:nvPr/>
        </p:nvPicPr>
        <p:blipFill>
          <a:blip r:embed="rId2"/>
          <a:stretch>
            <a:fillRect/>
          </a:stretch>
        </p:blipFill>
        <p:spPr>
          <a:xfrm>
            <a:off x="4914900" y="1354438"/>
            <a:ext cx="4300538" cy="2871788"/>
          </a:xfrm>
          <a:prstGeom prst="rect">
            <a:avLst/>
          </a:prstGeom>
        </p:spPr>
      </p:pic>
      <p:sp>
        <p:nvSpPr>
          <p:cNvPr id="9" name="Text 4"/>
          <p:cNvSpPr/>
          <p:nvPr/>
        </p:nvSpPr>
        <p:spPr>
          <a:xfrm>
            <a:off x="2043113" y="4467327"/>
            <a:ext cx="6643688" cy="164306"/>
          </a:xfrm>
          <a:prstGeom prst="rect">
            <a:avLst/>
          </a:prstGeom>
          <a:noFill/>
          <a:ln/>
        </p:spPr>
        <p:txBody>
          <a:bodyPr wrap="square" lIns="0" tIns="0" rIns="0" bIns="0" rtlCol="0" anchor="t">
            <a:spAutoFit/>
          </a:bodyPr>
          <a:lstStyle/>
          <a:p>
            <a:pPr algn="l" indent="0" marL="0">
              <a:buNone/>
            </a:pPr>
            <a:r>
              <a:rPr lang="en-US" sz="900" b="1" spc="1" kern="0" dirty="0">
                <a:solidFill>
                  <a:srgbClr val="16A34A"/>
                </a:solidFill>
                <a:latin typeface="Space Grotesk" pitchFamily="34" charset="0"/>
                <a:ea typeface="Space Grotesk" pitchFamily="34" charset="-122"/>
                <a:cs typeface="Space Grotesk" pitchFamily="34" charset="-120"/>
              </a:rPr>
              <a:t>TAKEAWAY</a:t>
            </a:r>
            <a:endParaRPr lang="en-US" sz="900" dirty="0"/>
          </a:p>
        </p:txBody>
      </p:sp>
      <p:sp>
        <p:nvSpPr>
          <p:cNvPr id="10" name="Text 5"/>
          <p:cNvSpPr/>
          <p:nvPr/>
        </p:nvSpPr>
        <p:spPr>
          <a:xfrm>
            <a:off x="2043113" y="4660209"/>
            <a:ext cx="6643688" cy="378619"/>
          </a:xfrm>
          <a:prstGeom prst="rect">
            <a:avLst/>
          </a:prstGeom>
          <a:noFill/>
          <a:ln/>
        </p:spPr>
        <p:txBody>
          <a:bodyPr wrap="square" lIns="0" tIns="0" rIns="0" bIns="0" rtlCol="0" anchor="t">
            <a:spAutoFit/>
          </a:bodyPr>
          <a:lstStyle/>
          <a:p>
            <a:pPr algn="l" indent="0" marL="0">
              <a:buNone/>
            </a:pPr>
            <a:r>
              <a:rPr lang="en-US" sz="1150" dirty="0">
                <a:solidFill>
                  <a:srgbClr val="171717"/>
                </a:solidFill>
                <a:latin typeface="Inter Medium" pitchFamily="34" charset="0"/>
                <a:ea typeface="Inter Medium" pitchFamily="34" charset="-122"/>
                <a:cs typeface="Inter Medium" pitchFamily="34" charset="-120"/>
              </a:rPr>
              <a:t>In complex environments, Power-2 is the most reliable stateless choice, whereas a Heap is the optimal stateful choice.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828800" y="571500"/>
            <a:ext cx="6400800" cy="411463"/>
          </a:xfrm>
          <a:prstGeom prst="rect">
            <a:avLst/>
          </a:prstGeom>
          <a:noFill/>
          <a:ln/>
        </p:spPr>
        <p:txBody>
          <a:bodyPr wrap="none" lIns="0" tIns="0" rIns="0" bIns="0" rtlCol="0" anchor="t">
            <a:spAutoFit/>
          </a:bodyPr>
          <a:lstStyle/>
          <a:p>
            <a:pPr algn="l" indent="0" marL="0">
              <a:lnSpc>
                <a:spcPct val="96000"/>
              </a:lnSpc>
              <a:buNone/>
            </a:pPr>
            <a:r>
              <a:rPr lang="en-US" sz="2450" b="1" dirty="0">
                <a:solidFill>
                  <a:srgbClr val="171717"/>
                </a:solidFill>
                <a:latin typeface="Inter Bold" pitchFamily="34" charset="0"/>
                <a:ea typeface="Inter Bold" pitchFamily="34" charset="-122"/>
                <a:cs typeface="Inter Bold" pitchFamily="34" charset="-120"/>
              </a:rPr>
              <a:t>Summary &amp; Engineering Decisions</a:t>
            </a:r>
            <a:endParaRPr lang="en-US" sz="2450" dirty="0"/>
          </a:p>
        </p:txBody>
      </p:sp>
      <p:sp>
        <p:nvSpPr>
          <p:cNvPr id="5" name="Text 1"/>
          <p:cNvSpPr/>
          <p:nvPr/>
        </p:nvSpPr>
        <p:spPr>
          <a:xfrm>
            <a:off x="1828800" y="1040113"/>
            <a:ext cx="6400800" cy="242888"/>
          </a:xfrm>
          <a:prstGeom prst="rect">
            <a:avLst/>
          </a:prstGeom>
          <a:noFill/>
          <a:ln/>
        </p:spPr>
        <p:txBody>
          <a:bodyPr wrap="square" lIns="0" tIns="0" rIns="0" bIns="0" rtlCol="0" anchor="t">
            <a:spAutoFit/>
          </a:bodyPr>
          <a:lstStyle/>
          <a:p>
            <a:pPr algn="l" indent="0" marL="0">
              <a:buNone/>
            </a:pPr>
            <a:r>
              <a:rPr lang="en-US" sz="1500" dirty="0">
                <a:solidFill>
                  <a:srgbClr val="16A34A"/>
                </a:solidFill>
                <a:latin typeface="Inter Medium" pitchFamily="34" charset="0"/>
                <a:ea typeface="Inter Medium" pitchFamily="34" charset="-122"/>
                <a:cs typeface="Inter Medium" pitchFamily="34" charset="-120"/>
              </a:rPr>
              <a:t>Two choices are usually enough</a:t>
            </a:r>
            <a:endParaRPr lang="en-US" sz="1500" dirty="0"/>
          </a:p>
        </p:txBody>
      </p:sp>
      <p:sp>
        <p:nvSpPr>
          <p:cNvPr id="6" name="Text 2"/>
          <p:cNvSpPr/>
          <p:nvPr/>
        </p:nvSpPr>
        <p:spPr>
          <a:xfrm>
            <a:off x="1828800" y="1568751"/>
            <a:ext cx="6400800" cy="164306"/>
          </a:xfrm>
          <a:prstGeom prst="rect">
            <a:avLst/>
          </a:prstGeom>
          <a:noFill/>
          <a:ln/>
        </p:spPr>
        <p:txBody>
          <a:bodyPr wrap="square" lIns="0" tIns="0" rIns="0" bIns="0" rtlCol="0" anchor="t">
            <a:spAutoFit/>
          </a:bodyPr>
          <a:lstStyle/>
          <a:p>
            <a:pPr algn="l" indent="0" marL="0">
              <a:buNone/>
            </a:pPr>
            <a:r>
              <a:rPr lang="en-US" sz="900" b="1" spc="1" kern="0" dirty="0">
                <a:solidFill>
                  <a:srgbClr val="16A34A"/>
                </a:solidFill>
                <a:latin typeface="Space Grotesk" pitchFamily="34" charset="0"/>
                <a:ea typeface="Space Grotesk" pitchFamily="34" charset="-122"/>
                <a:cs typeface="Space Grotesk" pitchFamily="34" charset="-120"/>
              </a:rPr>
              <a:t>01. BEST DEFAULT</a:t>
            </a:r>
            <a:endParaRPr lang="en-US" sz="900" dirty="0"/>
          </a:p>
        </p:txBody>
      </p:sp>
      <p:sp>
        <p:nvSpPr>
          <p:cNvPr id="7" name="Text 3"/>
          <p:cNvSpPr/>
          <p:nvPr/>
        </p:nvSpPr>
        <p:spPr>
          <a:xfrm>
            <a:off x="1828800" y="1761632"/>
            <a:ext cx="6400800" cy="471488"/>
          </a:xfrm>
          <a:prstGeom prst="rect">
            <a:avLst/>
          </a:prstGeom>
          <a:noFill/>
          <a:ln/>
        </p:spPr>
        <p:txBody>
          <a:bodyPr wrap="square" lIns="0" tIns="0" rIns="0" bIns="0" rtlCol="0" anchor="t">
            <a:spAutoFit/>
          </a:bodyPr>
          <a:lstStyle/>
          <a:p>
            <a:pPr algn="l" indent="0" marL="0">
              <a:lnSpc>
                <a:spcPct val="120000"/>
              </a:lnSpc>
              <a:buNone/>
            </a:pPr>
            <a:r>
              <a:rPr lang="en-US" sz="1100" b="1" dirty="0">
                <a:solidFill>
                  <a:srgbClr val="171717"/>
                </a:solidFill>
                <a:latin typeface="Inter Bold" pitchFamily="34" charset="0"/>
                <a:ea typeface="Inter Bold" pitchFamily="34" charset="-122"/>
                <a:cs typeface="Inter Bold" pitchFamily="34" charset="-120"/>
              </a:rPr>
              <a:t>Power-2</a:t>
            </a:r>
            <a:r>
              <a:rPr lang="en-US" sz="1150" dirty="0">
                <a:solidFill>
                  <a:srgbClr val="404040"/>
                </a:solidFill>
                <a:latin typeface="Inter Medium" pitchFamily="34" charset="0"/>
                <a:ea typeface="Inter Medium" pitchFamily="34" charset="-122"/>
                <a:cs typeface="Inter Medium" pitchFamily="34" charset="-120"/>
              </a:rPr>
              <a:t> provides high robustness and low cost without requiring any maintained </a:t>
            </a:r>
            <a:r>
              <a:rPr lang="en-US" sz="1150" dirty="0">
                <a:solidFill>
                  <a:srgbClr val="404040"/>
                </a:solidFill>
                <a:latin typeface="Inter Medium" pitchFamily="34" charset="0"/>
                <a:ea typeface="Inter Medium" pitchFamily="34" charset="-122"/>
                <a:cs typeface="Inter Medium" pitchFamily="34" charset="-120"/>
              </a:rPr>
              <a:t>state. It is the most reliable choice for high-throughput stateless systems.</a:t>
            </a:r>
            <a:endParaRPr lang="en-US" sz="1100" dirty="0"/>
          </a:p>
        </p:txBody>
      </p:sp>
      <p:sp>
        <p:nvSpPr>
          <p:cNvPr id="8" name="Text 4"/>
          <p:cNvSpPr/>
          <p:nvPr/>
        </p:nvSpPr>
        <p:spPr>
          <a:xfrm>
            <a:off x="1828800" y="2461720"/>
            <a:ext cx="6400800" cy="164306"/>
          </a:xfrm>
          <a:prstGeom prst="rect">
            <a:avLst/>
          </a:prstGeom>
          <a:noFill/>
          <a:ln/>
        </p:spPr>
        <p:txBody>
          <a:bodyPr wrap="square" lIns="0" tIns="0" rIns="0" bIns="0" rtlCol="0" anchor="t">
            <a:spAutoFit/>
          </a:bodyPr>
          <a:lstStyle/>
          <a:p>
            <a:pPr algn="l" indent="0" marL="0">
              <a:buNone/>
            </a:pPr>
            <a:r>
              <a:rPr lang="en-US" sz="900" b="1" spc="1" kern="0" dirty="0">
                <a:solidFill>
                  <a:srgbClr val="16A34A"/>
                </a:solidFill>
                <a:latin typeface="Space Grotesk" pitchFamily="34" charset="0"/>
                <a:ea typeface="Space Grotesk" pitchFamily="34" charset="-122"/>
                <a:cs typeface="Space Grotesk" pitchFamily="34" charset="-120"/>
              </a:rPr>
              <a:t>02. BEST FOR QUALITY</a:t>
            </a:r>
            <a:endParaRPr lang="en-US" sz="900" dirty="0"/>
          </a:p>
        </p:txBody>
      </p:sp>
      <p:sp>
        <p:nvSpPr>
          <p:cNvPr id="9" name="Text 5"/>
          <p:cNvSpPr/>
          <p:nvPr/>
        </p:nvSpPr>
        <p:spPr>
          <a:xfrm>
            <a:off x="1828800" y="2654601"/>
            <a:ext cx="6400800" cy="471488"/>
          </a:xfrm>
          <a:prstGeom prst="rect">
            <a:avLst/>
          </a:prstGeom>
          <a:noFill/>
          <a:ln/>
        </p:spPr>
        <p:txBody>
          <a:bodyPr wrap="square" lIns="0" tIns="0" rIns="0" bIns="0" rtlCol="0" anchor="t">
            <a:spAutoFit/>
          </a:bodyPr>
          <a:lstStyle/>
          <a:p>
            <a:pPr algn="l" indent="0" marL="0">
              <a:lnSpc>
                <a:spcPct val="120000"/>
              </a:lnSpc>
              <a:buNone/>
            </a:pPr>
            <a:r>
              <a:rPr lang="en-US" sz="1100" b="1" dirty="0">
                <a:solidFill>
                  <a:srgbClr val="171717"/>
                </a:solidFill>
                <a:latin typeface="Inter Bold" pitchFamily="34" charset="0"/>
                <a:ea typeface="Inter Bold" pitchFamily="34" charset="-122"/>
                <a:cs typeface="Inter Bold" pitchFamily="34" charset="-120"/>
              </a:rPr>
              <a:t>Heap-based designs</a:t>
            </a:r>
            <a:r>
              <a:rPr lang="en-US" sz="1150" dirty="0">
                <a:solidFill>
                  <a:srgbClr val="404040"/>
                </a:solidFill>
                <a:latin typeface="Inter Medium" pitchFamily="34" charset="0"/>
                <a:ea typeface="Inter Medium" pitchFamily="34" charset="-122"/>
                <a:cs typeface="Inter Medium" pitchFamily="34" charset="-120"/>
              </a:rPr>
              <a:t> should be used only when the additional memory and update </a:t>
            </a:r>
            <a:r>
              <a:rPr lang="en-US" sz="1150" dirty="0">
                <a:solidFill>
                  <a:srgbClr val="404040"/>
                </a:solidFill>
                <a:latin typeface="Inter Medium" pitchFamily="34" charset="0"/>
                <a:ea typeface="Inter Medium" pitchFamily="34" charset="-122"/>
                <a:cs typeface="Inter Medium" pitchFamily="34" charset="-120"/>
              </a:rPr>
              <a:t>costs are justified by the requirement for near-perfect load balance.</a:t>
            </a:r>
            <a:endParaRPr lang="en-US" sz="1100" dirty="0"/>
          </a:p>
        </p:txBody>
      </p:sp>
      <p:sp>
        <p:nvSpPr>
          <p:cNvPr id="10" name="Text 6"/>
          <p:cNvSpPr/>
          <p:nvPr/>
        </p:nvSpPr>
        <p:spPr>
          <a:xfrm>
            <a:off x="1828800" y="3354688"/>
            <a:ext cx="6400800" cy="164306"/>
          </a:xfrm>
          <a:prstGeom prst="rect">
            <a:avLst/>
          </a:prstGeom>
          <a:noFill/>
          <a:ln/>
        </p:spPr>
        <p:txBody>
          <a:bodyPr wrap="square" lIns="0" tIns="0" rIns="0" bIns="0" rtlCol="0" anchor="t">
            <a:spAutoFit/>
          </a:bodyPr>
          <a:lstStyle/>
          <a:p>
            <a:pPr algn="l" indent="0" marL="0">
              <a:buNone/>
            </a:pPr>
            <a:r>
              <a:rPr lang="en-US" sz="900" b="1" spc="1" kern="0" dirty="0">
                <a:solidFill>
                  <a:srgbClr val="16A34A"/>
                </a:solidFill>
                <a:latin typeface="Space Grotesk" pitchFamily="34" charset="0"/>
                <a:ea typeface="Space Grotesk" pitchFamily="34" charset="-122"/>
                <a:cs typeface="Space Grotesk" pitchFamily="34" charset="-120"/>
              </a:rPr>
              <a:t>03. DIMINISHING RETURNS</a:t>
            </a:r>
            <a:endParaRPr lang="en-US" sz="900" dirty="0"/>
          </a:p>
        </p:txBody>
      </p:sp>
      <p:sp>
        <p:nvSpPr>
          <p:cNvPr id="11" name="Text 7"/>
          <p:cNvSpPr/>
          <p:nvPr/>
        </p:nvSpPr>
        <p:spPr>
          <a:xfrm>
            <a:off x="1828800" y="3547570"/>
            <a:ext cx="6400800" cy="471488"/>
          </a:xfrm>
          <a:prstGeom prst="rect">
            <a:avLst/>
          </a:prstGeom>
          <a:noFill/>
          <a:ln/>
        </p:spPr>
        <p:txBody>
          <a:bodyPr wrap="square" lIns="0" tIns="0" rIns="0" bIns="0" rtlCol="0" anchor="t">
            <a:spAutoFit/>
          </a:bodyPr>
          <a:lstStyle/>
          <a:p>
            <a:pPr algn="l" indent="0" marL="0">
              <a:lnSpc>
                <a:spcPct val="120000"/>
              </a:lnSpc>
              <a:buNone/>
            </a:pPr>
            <a:r>
              <a:rPr lang="en-US" sz="1100" b="1" dirty="0">
                <a:solidFill>
                  <a:srgbClr val="171717"/>
                </a:solidFill>
                <a:latin typeface="Inter Bold" pitchFamily="34" charset="0"/>
                <a:ea typeface="Inter Bold" pitchFamily="34" charset="-122"/>
                <a:cs typeface="Inter Bold" pitchFamily="34" charset="-120"/>
              </a:rPr>
              <a:t>Global knowledge</a:t>
            </a:r>
            <a:r>
              <a:rPr lang="en-US" sz="1150" dirty="0">
                <a:solidFill>
                  <a:srgbClr val="404040"/>
                </a:solidFill>
                <a:latin typeface="Inter Medium" pitchFamily="34" charset="0"/>
                <a:ea typeface="Inter Medium" pitchFamily="34" charset="-122"/>
                <a:cs typeface="Inter Medium" pitchFamily="34" charset="-120"/>
              </a:rPr>
              <a:t> is rarely worth the price. The cost of full scanning is almost never </a:t>
            </a:r>
            <a:r>
              <a:rPr lang="en-US" sz="1150" dirty="0">
                <a:solidFill>
                  <a:srgbClr val="404040"/>
                </a:solidFill>
                <a:latin typeface="Inter Medium" pitchFamily="34" charset="0"/>
                <a:ea typeface="Inter Medium" pitchFamily="34" charset="-122"/>
                <a:cs typeface="Inter Medium" pitchFamily="34" charset="-120"/>
              </a:rPr>
              <a:t>justified by the marginal gains over Power-2 or Heap-based methods.</a:t>
            </a:r>
            <a:endParaRPr lang="en-US" sz="1100" dirty="0"/>
          </a:p>
        </p:txBody>
      </p:sp>
      <p:sp>
        <p:nvSpPr>
          <p:cNvPr id="12" name="Text 8"/>
          <p:cNvSpPr/>
          <p:nvPr/>
        </p:nvSpPr>
        <p:spPr>
          <a:xfrm>
            <a:off x="2043113" y="4376245"/>
            <a:ext cx="6186488" cy="182166"/>
          </a:xfrm>
          <a:prstGeom prst="rect">
            <a:avLst/>
          </a:prstGeom>
          <a:noFill/>
          <a:ln/>
        </p:spPr>
        <p:txBody>
          <a:bodyPr wrap="square" lIns="0" tIns="0" rIns="0" bIns="0" rtlCol="0" anchor="t">
            <a:spAutoFit/>
          </a:bodyPr>
          <a:lstStyle/>
          <a:p>
            <a:pPr algn="l" indent="0" marL="0">
              <a:buNone/>
            </a:pPr>
            <a:r>
              <a:rPr lang="en-US" sz="1000" b="1" spc="1" kern="0" dirty="0">
                <a:solidFill>
                  <a:srgbClr val="16A34A"/>
                </a:solidFill>
                <a:latin typeface="Space Grotesk" pitchFamily="34" charset="0"/>
                <a:ea typeface="Space Grotesk" pitchFamily="34" charset="-122"/>
                <a:cs typeface="Space Grotesk" pitchFamily="34" charset="-120"/>
              </a:rPr>
              <a:t>FINAL TAKEAWAY</a:t>
            </a:r>
            <a:endParaRPr lang="en-US" sz="1000" dirty="0"/>
          </a:p>
        </p:txBody>
      </p:sp>
      <p:sp>
        <p:nvSpPr>
          <p:cNvPr id="13" name="Text 9"/>
          <p:cNvSpPr/>
          <p:nvPr/>
        </p:nvSpPr>
        <p:spPr>
          <a:xfrm>
            <a:off x="2043113" y="4615560"/>
            <a:ext cx="6186488" cy="450056"/>
          </a:xfrm>
          <a:prstGeom prst="rect">
            <a:avLst/>
          </a:prstGeom>
          <a:noFill/>
          <a:ln/>
        </p:spPr>
        <p:txBody>
          <a:bodyPr wrap="square" lIns="0" tIns="0" rIns="0" bIns="0" rtlCol="0" anchor="t">
            <a:spAutoFit/>
          </a:bodyPr>
          <a:lstStyle/>
          <a:p>
            <a:pPr algn="l" indent="0" marL="0">
              <a:buNone/>
            </a:pPr>
            <a:r>
              <a:rPr lang="en-US" sz="1300" b="1" dirty="0">
                <a:solidFill>
                  <a:srgbClr val="171717"/>
                </a:solidFill>
                <a:latin typeface="Inter Bold" pitchFamily="34" charset="0"/>
                <a:ea typeface="Inter Bold" pitchFamily="34" charset="-122"/>
                <a:cs typeface="Inter Bold" pitchFamily="34" charset="-120"/>
              </a:rPr>
              <a:t>Optimize load-balance quality per unit of decision and state cost. In most systems, the power of two choices is all you need.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2026-06-29T19:57:45Z</dcterms:created>
  <dcterms:modified xsi:type="dcterms:W3CDTF">2026-06-29T19:57:45Z</dcterms:modified>
</cp:coreProperties>
</file>