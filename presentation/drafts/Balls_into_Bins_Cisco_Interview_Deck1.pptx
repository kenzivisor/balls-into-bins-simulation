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ARCHITECTURE  ·  TECHNICAL INTERVIEW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Balls into Bins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21792" y="199339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 Under Cost Constraints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21792" y="25054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choices, stateful policies, and cost–quality tradeoffs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" y="3154680"/>
            <a:ext cx="7315200" cy="1051560"/>
          </a:xfrm>
          <a:prstGeom prst="roundRect">
            <a:avLst>
              <a:gd name="adj" fmla="val 6957"/>
            </a:avLst>
          </a:prstGeom>
          <a:solidFill>
            <a:srgbClr val="182A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2735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MESSAGE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5478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load-balance quality does each policy buy for its decision cost?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3367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&amp; 32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3367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45552" y="4617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845552" y="5239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SCENARIO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539935" y="6446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 Kenzi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60350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arriving ball must be assigned to a bin immediately — no batching, no undo.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the maximum load and the imbalance across bins.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analogy: assigning jobs, network flows, or tasks to servers, links, or queues.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how much state or load information should the allocator use?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903720" y="1325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ALLOCATION, ONE BALL AT A TIME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903720" y="1691640"/>
            <a:ext cx="4206240" cy="3246120"/>
          </a:xfrm>
          <a:prstGeom prst="roundRect">
            <a:avLst>
              <a:gd name="adj" fmla="val 2254"/>
            </a:avLst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19659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23376" y="2267712"/>
            <a:ext cx="0" cy="5029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30568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30568" y="4009644"/>
            <a:ext cx="868680" cy="6080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1856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91856" y="3140964"/>
            <a:ext cx="868680" cy="14767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3144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53144" y="3662172"/>
            <a:ext cx="868680" cy="9555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14432" y="2880360"/>
            <a:ext cx="86868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4432" y="4183380"/>
            <a:ext cx="868680" cy="4343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4727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bins start at different loads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models any system that must commit a resource assignment immediately, with only partial knowledge of global state.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Setup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1323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BALLS PER RUN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&amp; 32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0215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COUNTS TESTED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629107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9107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PER SCENARIO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325880"/>
            <a:ext cx="260604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079992" y="1399032"/>
            <a:ext cx="2276856" cy="50383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079992" y="1847088"/>
            <a:ext cx="227685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TRACKED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WORKLOAD / SETUP MODES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34640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9808" y="3072384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initial bins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33008" y="2743200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34176" y="2834640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34176" y="3072384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initial bins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3813048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904488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" y="4142232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initialized bins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233008" y="3813048"/>
            <a:ext cx="5410048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6434176" y="3904488"/>
            <a:ext cx="504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34176" y="4142232"/>
            <a:ext cx="5044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balls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initialized bins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463040" y="49011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   ·   Max–min gap   ·   CV / load imbalance   ·   Cost per ball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is evaluated across all four conditions — clean and adversarial alike.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Compared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766560" y="1453896"/>
            <a:ext cx="118872" cy="118872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696772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321040" y="1453896"/>
            <a:ext cx="118872" cy="118872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7" name="Text 5"/>
          <p:cNvSpPr/>
          <p:nvPr/>
        </p:nvSpPr>
        <p:spPr>
          <a:xfrm>
            <a:off x="852220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058400" y="1453896"/>
            <a:ext cx="118872" cy="118872"/>
          </a:xfrm>
          <a:prstGeom prst="ellipse">
            <a:avLst/>
          </a:prstGeom>
          <a:solidFill>
            <a:srgbClr val="C2660D"/>
          </a:solidFill>
          <a:ln/>
        </p:spPr>
      </p:sp>
      <p:sp>
        <p:nvSpPr>
          <p:cNvPr id="9" name="Text 7"/>
          <p:cNvSpPr/>
          <p:nvPr/>
        </p:nvSpPr>
        <p:spPr>
          <a:xfrm>
            <a:off x="10259568" y="13533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4415" cy="3886200"/>
        </p:xfrm>
        <a:graphic>
          <a:graphicData uri="http://schemas.openxmlformats.org/drawingml/2006/table">
            <a:tbl>
              <a:tblPr/>
              <a:tblGrid>
                <a:gridCol w="1920240"/>
                <a:gridCol w="2377440"/>
                <a:gridCol w="4050792"/>
                <a:gridCol w="274320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knows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random bin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Power-k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sampled bin loads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Grows with k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Absolute minimum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bin loads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scan cost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Round-robin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Next-bin pointer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 (state)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C2660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Heap size 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/ global heap state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+ heap updates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203200" marB="2032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comparison is stateless sampling vs. maintained state vs. full global knowledge.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Structure: Objects and Flow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00304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0304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173072" y="162306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83968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83968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56736" y="162306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67632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7632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loads +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0400" y="162306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251296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E8EF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1296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24064" y="162306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34960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4960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707728" y="1623060"/>
            <a:ext cx="310896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18624" y="1234440"/>
            <a:ext cx="1572768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18624" y="12344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423160"/>
            <a:ext cx="3545738" cy="3337560"/>
          </a:xfrm>
          <a:prstGeom prst="roundRect">
            <a:avLst>
              <a:gd name="adj" fmla="val 1918"/>
            </a:avLst>
          </a:prstGeom>
          <a:solidFill>
            <a:srgbClr val="F1F5F9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2423160"/>
            <a:ext cx="3545738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587752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1520" y="2953512"/>
            <a:ext cx="317997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balls · 16 or 32 bins · 10 trials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or unweighted balls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or randomly initialized bins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policy + parameters (k, heap size s)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and cost weights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22978" y="2423160"/>
            <a:ext cx="3545738" cy="3337560"/>
          </a:xfrm>
          <a:prstGeom prst="roundRect">
            <a:avLst>
              <a:gd name="adj" fmla="val 1918"/>
            </a:avLst>
          </a:prstGeom>
          <a:solidFill>
            <a:srgbClr val="F1F5F9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2978" y="2423160"/>
            <a:ext cx="3545738" cy="5486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7" name="Text 25"/>
          <p:cNvSpPr/>
          <p:nvPr/>
        </p:nvSpPr>
        <p:spPr>
          <a:xfrm>
            <a:off x="4505858" y="2587752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05858" y="2935224"/>
            <a:ext cx="3179978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4615586" y="3026664"/>
            <a:ext cx="2960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SimulationBase</a:t>
            </a:r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‹abstract›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15586" y="3264408"/>
            <a:ext cx="2960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load array, ball arrival, and cost accumulation.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615586" y="3493008"/>
            <a:ext cx="29605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implement only: select bin.</a:t>
            </a:r>
            <a:endParaRPr lang="en-US" sz="980" dirty="0"/>
          </a:p>
        </p:txBody>
      </p:sp>
      <p:sp>
        <p:nvSpPr>
          <p:cNvPr id="32" name="Text 30"/>
          <p:cNvSpPr/>
          <p:nvPr/>
        </p:nvSpPr>
        <p:spPr>
          <a:xfrm>
            <a:off x="4505858" y="3922776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10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PowerKSimulator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4707026" y="4142232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Power-k, Absolute minimum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4505858" y="4434840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108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StatefulRoundRobinSimulator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4707026" y="4654296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pointer state</a:t>
            </a:r>
            <a:endParaRPr lang="en-US" sz="980" dirty="0"/>
          </a:p>
        </p:txBody>
      </p:sp>
      <p:sp>
        <p:nvSpPr>
          <p:cNvPr id="36" name="Text 34"/>
          <p:cNvSpPr/>
          <p:nvPr/>
        </p:nvSpPr>
        <p:spPr>
          <a:xfrm>
            <a:off x="4505858" y="4946904"/>
            <a:ext cx="31799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</a:t>
            </a:r>
            <a:pPr indent="0" marL="0">
              <a:buNone/>
            </a:pPr>
            <a:r>
              <a:rPr lang="en-US" sz="108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HeapSizeSPowerOfKSimulator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707026" y="5166360"/>
            <a:ext cx="297881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heap / full heap state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8097317" y="2423160"/>
            <a:ext cx="3545738" cy="3337560"/>
          </a:xfrm>
          <a:prstGeom prst="roundRect">
            <a:avLst>
              <a:gd name="adj" fmla="val 1918"/>
            </a:avLst>
          </a:prstGeom>
          <a:solidFill>
            <a:srgbClr val="F1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8097317" y="2423160"/>
            <a:ext cx="3545738" cy="54864"/>
          </a:xfrm>
          <a:prstGeom prst="rect">
            <a:avLst/>
          </a:prstGeom>
          <a:solidFill>
            <a:srgbClr val="C2660D"/>
          </a:solidFill>
          <a:ln/>
        </p:spPr>
      </p:sp>
      <p:sp>
        <p:nvSpPr>
          <p:cNvPr id="40" name="Text 38"/>
          <p:cNvSpPr/>
          <p:nvPr/>
        </p:nvSpPr>
        <p:spPr>
          <a:xfrm>
            <a:off x="8280197" y="2587752"/>
            <a:ext cx="31799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OUTPUT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80197" y="2953512"/>
            <a:ext cx="3179978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min load, max–min gap, CV / imbalance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 and total cost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across all 10 trials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to a results CSV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Plotting script turns the CSV into the deck's plots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simulators inherit from a shared SimulationBase — they differ only in how each selects a bin.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Theory Anchor: Why Power-2 Matters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309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choice leaves a small set of bins overloaded — the classic balls-in-bins bottleneck.</a:t>
            </a:r>
            <a:endParaRPr lang="en-US" sz="1650" dirty="0"/>
          </a:p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just two bins and keeping the less-loaded one cuts that bottleneck exponentially, not just by a constant factor.</a:t>
            </a:r>
            <a:endParaRPr lang="en-US" sz="1650" dirty="0"/>
          </a:p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power-of-two-choices result (Mitzenmacher, 2001): a couple bits of local information go a very long way.</a:t>
            </a:r>
            <a:endParaRPr lang="en-US" sz="1650" dirty="0"/>
          </a:p>
          <a:p>
            <a:pPr marL="228600" indent="-228600">
              <a:lnSpc>
                <a:spcPct val="118000"/>
              </a:lnSpc>
              <a:spcAft>
                <a:spcPts val="24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two choices, more sampling keeps helping, but only by changing the base of an already-tiny logarithm — diminishing returns, fast.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178040" y="1325880"/>
            <a:ext cx="4465015" cy="2788920"/>
          </a:xfrm>
          <a:prstGeom prst="roundRect">
            <a:avLst>
              <a:gd name="adj" fmla="val 2951"/>
            </a:avLst>
          </a:prstGeom>
          <a:solidFill>
            <a:srgbClr val="E8EFFD"/>
          </a:solidFill>
          <a:ln/>
        </p:spPr>
      </p:sp>
      <p:sp>
        <p:nvSpPr>
          <p:cNvPr id="6" name="Text 4"/>
          <p:cNvSpPr/>
          <p:nvPr/>
        </p:nvSpPr>
        <p:spPr>
          <a:xfrm>
            <a:off x="7434072" y="1481328"/>
            <a:ext cx="39529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 BALLS INTO n BINS (WHP)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34072" y="1828800"/>
            <a:ext cx="3952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random choice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34072" y="2057400"/>
            <a:ext cx="3952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Θ( log n / log log n 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434072" y="2359152"/>
            <a:ext cx="39529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2 &amp; 5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34072" y="2542032"/>
            <a:ext cx="3952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choices — Power-2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34072" y="2770632"/>
            <a:ext cx="3952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pPr indent="0" marL="0">
              <a:buNone/>
            </a:pPr>
            <a:r>
              <a:rPr lang="en-US" sz="1700" b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(log n) + O(1)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434072" y="3072384"/>
            <a:ext cx="39529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2 (Mitzenmacher, 2001)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34072" y="3255264"/>
            <a:ext cx="395295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choices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34072" y="3483864"/>
            <a:ext cx="395295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pPr indent="0" marL="0">
              <a:buNone/>
            </a:pPr>
            <a:r>
              <a:rPr lang="en-US" sz="1700" b="1" baseline="-40000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(log n) + O(1)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34072" y="3785616"/>
            <a:ext cx="39529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78040" y="4224528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bounds assume n balls into n bins. Our simulation runs heavily loaded — 10,000 balls into 16–32 bins — a different regime, but the same qualitative gap motivates Power-2.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178040" y="5074920"/>
            <a:ext cx="4465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local information captures most of the benefit. No proof here — the rest of this deck tests it empirically.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motivates Power-2 as the practical randomized baseline — the rest of the deck checks it against real cost.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Baseline: Power-2 Captures Most of the Gain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4" name="Image 0" descr="/home/claude/work/assets/plot_clean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666.1 → 626.4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 (RANDOM → POWER-2)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74320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281635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345.3 → 313.9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99832" y="359359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 (RANDOM → POWER-2)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4343400"/>
            <a:ext cx="4007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 adds only a small improvement beyond Power-2 — at much higher cost.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nearly closes the gap to the ideal policy in the clean, unweighted case.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Diminishing Returns of 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4" name="Image 0" descr="/home/claude/work/assets/plot_diminishing_retu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626.4 / 626.0 / 625.9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12140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— POWER 2 / 3 / 4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799832" y="2395728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ball: 9 / 14 / 19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35240" y="292608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7799832" y="299923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313.9 / 313.6 / 313.0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99832" y="385876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— POWER 2 / 3 / 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799832" y="4133088"/>
            <a:ext cx="3678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ball: 9 / 14 / 19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635240" y="4709160"/>
            <a:ext cx="40078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grows roughly linearly with k — quality gain does not.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improvement is k=1 → k=2. Larger k mostly increases cost.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Cost–Quality Tradeoff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4" name="Image 0" descr="/home/claude/work/assets/plot_cost_quality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143000"/>
            <a:ext cx="9509760" cy="40756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13232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Near-optimal — but expensive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07738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4472330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excellent here — but fragile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66837" y="5440680"/>
            <a:ext cx="3576218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8231429" y="5440680"/>
            <a:ext cx="32470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knee of the curve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 delivers most of the achievable quality for a small, flat cost — the knee of the curve.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Balls Break Count Fairness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4" name="Image 0" descr="/home/claude/work/assets/plot_weighted_br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1812.6  vs  1731.6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WEIGHTED n=32 — ROUND-ROBIN vs POWER-2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35240" y="278892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by count can still be bad by load. Power-2 reads current load and adapts; round-robin does not.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35240" y="397764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appears at n=16: round-robin's clean-case advantage disappears once balls carry weight.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balances counts, not load — weighted balls expose that weakness.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Stateful Heap: When Maintained State Helps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4" name="Image 0" descr="/home/claude/work/assets/plot_heap_swe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554480"/>
          </a:xfrm>
          <a:prstGeom prst="roundRect">
            <a:avLst>
              <a:gd name="adj" fmla="val 4706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90159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2660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38.3  vs  ≈ 159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121408"/>
            <a:ext cx="3678631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BALL — FULL HEAP vs ABSOLUTE MINIMUM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35240" y="2697480"/>
            <a:ext cx="4007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heap matches absolute-minimum quality (max load ≈ 1724.7) at a fraction of the cost.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35240" y="3611880"/>
            <a:ext cx="4007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heap tracks s bins; full heap tracks all bins. More state steadily improves quality, at rising update cost.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maintained heap can approach global-min quality without scanning all bins every time.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 Tests Robustness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4" name="Image 0" descr="/home/claude/work/assets/plot_initializ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858000" cy="4572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35240" y="118872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799832" y="126187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679.3  vs  678.0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799832" y="203911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n=16 — POWER-2 vs REFERENCE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5240" y="2743200"/>
            <a:ext cx="4007815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2816352"/>
            <a:ext cx="3678631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365.4  vs  364.0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799832" y="3593592"/>
            <a:ext cx="3678631" cy="51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LOAD, n=32 — POWER-2 vs REFERENCE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635240" y="4343400"/>
            <a:ext cx="40078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rarely start from zero. Round-robin can preserve — rather than correct — initial imbalance.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non-empty bins exposes whether a policy corrects imbalance or just preserves it.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Realistic Tradeoff: Weighted + Initialized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4" name="Image 0" descr="/home/claude/work/assets/plot_cost_qualit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968" y="1143000"/>
            <a:ext cx="9509760" cy="40756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weak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367964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3505124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minimum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87288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0" name="Text 7"/>
          <p:cNvSpPr/>
          <p:nvPr/>
        </p:nvSpPr>
        <p:spPr>
          <a:xfrm>
            <a:off x="6324448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006611" y="5440680"/>
            <a:ext cx="2636444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/>
        </p:spPr>
      </p:sp>
      <p:sp>
        <p:nvSpPr>
          <p:cNvPr id="12" name="Text 9"/>
          <p:cNvSpPr/>
          <p:nvPr/>
        </p:nvSpPr>
        <p:spPr>
          <a:xfrm>
            <a:off x="9143771" y="5440680"/>
            <a:ext cx="23621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Power-2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stateless, robust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weighted, initialized conditions, Power-2 is the strongest simple default.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C++ Implementation Overview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0088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088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2968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4116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4116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6996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8144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EFF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144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CSV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1024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2172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172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250528" y="1805940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662008" y="141732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62008" y="14173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src/main.cpp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builds scenarios, runs them, and exports </a:t>
            </a:r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results/simulation_results.csv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29900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ExperimentRunner</a:t>
            </a:r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creates all experiment scenarios.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PowerKSimulator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3232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Random, Power-k, Absolute minimum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307738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4472330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StatefulRoundRobinSimulator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472330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66837" y="3611880"/>
            <a:ext cx="3576218" cy="1051560"/>
          </a:xfrm>
          <a:prstGeom prst="roundRect">
            <a:avLst>
              <a:gd name="adj" fmla="val 6087"/>
            </a:avLst>
          </a:prstGeom>
          <a:solidFill>
            <a:srgbClr val="F1F5F9"/>
          </a:solidFill>
          <a:ln/>
        </p:spPr>
      </p:sp>
      <p:sp>
        <p:nvSpPr>
          <p:cNvPr id="27" name="Text 25"/>
          <p:cNvSpPr/>
          <p:nvPr/>
        </p:nvSpPr>
        <p:spPr>
          <a:xfrm>
            <a:off x="8231429" y="3721608"/>
            <a:ext cx="32470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266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HeapSizeSPowerOfKSimulator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31429" y="4178808"/>
            <a:ext cx="32470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size s / full heap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scripts/plot_results.py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the CSV and creates the plots. The deck uses repository outputs only.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989320"/>
            <a:ext cx="11094415" cy="45720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structured as a repeatable performance-evaluation pipeline, not a one-off script.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CONCLUSION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21792" y="9601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choices is the best default.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balance benefit, with little decision cost.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robustness across weighted balls and initialized bins.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global knowledge is rarely worth the price.</a:t>
            </a:r>
            <a:endParaRPr lang="en-US" sz="1700" dirty="0"/>
          </a:p>
          <a:p>
            <a:pPr marL="228600" indent="-2286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heap designs can improve quality further — when memory/update cost is justified.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" y="48920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182A4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502920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50" kern="0" dirty="0">
                <a:solidFill>
                  <a:srgbClr val="6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5303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load-balance quality per unit of decision and state cost.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Balls into Bins: Load Balancing Under Cost Constraints</dc:title>
  <dc:subject>PptxGenJS Presentation</dc:subject>
  <dc:creator>Kobi Kenzi</dc:creator>
  <cp:lastModifiedBy>Kobi Kenzi</cp:lastModifiedBy>
  <cp:revision>1</cp:revision>
  <dcterms:created xsi:type="dcterms:W3CDTF">2026-06-30T06:39:45Z</dcterms:created>
  <dcterms:modified xsi:type="dcterms:W3CDTF">2026-06-30T06:39:45Z</dcterms:modified>
</cp:coreProperties>
</file>